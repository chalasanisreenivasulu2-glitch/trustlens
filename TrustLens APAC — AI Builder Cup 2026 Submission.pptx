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TrustLens APAC is our bounded AI solution for the BFSI risk, fraud, and financial experiences theme. Our promise is simple: before a scam becomes a transaction, make the safe next step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Scams compress a complex decision into one high-pressure message. The user may see impersonation, urgency, a credential request, and a redirect at once. Support teams need more than a screenshot; they need evidence and policy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four visible stages: intake, evidence normalization, grounded reasoning, and safe intervention. The system is deliberately bounded. It never performs a financial action, and uncertain cases stop at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TrustLens is not a generic financial chatbot. It is evidence-first, policy-grounded, guarded by deterministic software, and explicit about its human boundary. Generative reasoning is used for ambiguity; ordinary software controls the safety invariant.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calls FastAPI on Cloud Run. Gemini extracts evidence, then pattern and policy analysis run independently. Synthesis creates a structured result, the Python guard checks it, and a final communication agent localizes the safe next step. The five-call budget is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judge flow: paste a synthetic message, optionally add a screenshot, click Analyze safely, and inspect risk, rationale, recommended action, prohibited actions, and review status. The raw response exposes the audit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GenAI implementation is substantive. Gemini handles multimodal extraction, semantic pattern analysis, structured synthesis, and localization. Pydantic contracts make each response machine-checkable, and the deterministic post-generation guard prevents unsafe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evaluate on a versioned synthetic set spanning six scam patterns, text and screenshots, multiple languages, ambiguous cases, and adversarial safety cases. These are prototype targets, not invented production results. Observed values must be filled only after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the product boundary. TrustLens always shows evidence and uncertainty, escalates high-risk or unsupported cases, and never moves money, freezes an account, requests an OTP, or contacts a bank autonomously. Production requires authentication, retention controls, and audit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TrustLens brings grounded Gemini reasoning, deterministic safety, and human oversight to the moment before a scam becomes a transaction. The live prototype, repository, and three-minute demo make the submission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800281"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[SYS-00] / AI BUILDER CUP 2026</a:t>
            </a:r>
            <a:endParaRPr lang="en-US" sz="750" dirty="0"/>
          </a:p>
        </p:txBody>
      </p:sp>
      <p:sp>
        <p:nvSpPr>
          <p:cNvPr id="7" name="Text 3"/>
          <p:cNvSpPr/>
          <p:nvPr/>
        </p:nvSpPr>
        <p:spPr>
          <a:xfrm>
            <a:off x="7600894" y="428625"/>
            <a:ext cx="1200206"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GOOGLE CLOUD · JAPAC</a:t>
            </a:r>
            <a:endParaRPr lang="en-US" sz="750" dirty="0"/>
          </a:p>
        </p:txBody>
      </p:sp>
      <p:sp>
        <p:nvSpPr>
          <p:cNvPr id="8" name="Text 4"/>
          <p:cNvSpPr/>
          <p:nvPr/>
        </p:nvSpPr>
        <p:spPr>
          <a:xfrm>
            <a:off x="342900" y="1188262"/>
            <a:ext cx="8458200" cy="135731"/>
          </a:xfrm>
          <a:prstGeom prst="rect">
            <a:avLst/>
          </a:prstGeom>
          <a:noFill/>
          <a:ln/>
        </p:spPr>
        <p:txBody>
          <a:bodyPr wrap="square" lIns="0" tIns="0" rIns="0" bIns="0" rtlCol="0" anchor="t">
            <a:spAutoFit/>
          </a:bodyPr>
          <a:lstStyle/>
          <a:p>
            <a:pPr algn="l" indent="0" marL="0">
              <a:buNone/>
            </a:pPr>
            <a:r>
              <a:rPr lang="en-US" sz="750" spc="2" kern="0" dirty="0">
                <a:solidFill>
                  <a:srgbClr val="2ECA7F"/>
                </a:solidFill>
                <a:latin typeface="monospace" pitchFamily="34" charset="0"/>
                <a:ea typeface="monospace" pitchFamily="34" charset="-122"/>
                <a:cs typeface="monospace" pitchFamily="34" charset="-120"/>
              </a:rPr>
              <a:t>BOUNDED AI FOR DIGITAL-PAYMENT SAFETY</a:t>
            </a:r>
            <a:endParaRPr lang="en-US" sz="750" dirty="0"/>
          </a:p>
        </p:txBody>
      </p:sp>
      <p:sp>
        <p:nvSpPr>
          <p:cNvPr id="9" name="Text 5"/>
          <p:cNvSpPr/>
          <p:nvPr/>
        </p:nvSpPr>
        <p:spPr>
          <a:xfrm>
            <a:off x="342900" y="1495444"/>
            <a:ext cx="6143625" cy="1262435"/>
          </a:xfrm>
          <a:prstGeom prst="rect">
            <a:avLst/>
          </a:prstGeom>
          <a:noFill/>
          <a:ln/>
        </p:spPr>
        <p:txBody>
          <a:bodyPr wrap="square" lIns="0" tIns="0" rIns="0" bIns="0" rtlCol="0" anchor="t">
            <a:spAutoFit/>
          </a:bodyPr>
          <a:lstStyle/>
          <a:p>
            <a:pPr algn="l" indent="0" marL="0">
              <a:lnSpc>
                <a:spcPct val="75200"/>
              </a:lnSpc>
              <a:buNone/>
            </a:pPr>
            <a:r>
              <a:rPr lang="en-US" sz="4850" b="1" spc="-4" kern="0" dirty="0">
                <a:solidFill>
                  <a:srgbClr val="F4F0EA"/>
                </a:solidFill>
                <a:latin typeface="Arial" pitchFamily="34" charset="0"/>
                <a:ea typeface="Arial" pitchFamily="34" charset="-122"/>
                <a:cs typeface="Arial" pitchFamily="34" charset="-120"/>
              </a:rPr>
              <a:t>TrustLens</a:t>
            </a:r>
            <a:r>
              <a:rPr lang="en-US" sz="4850" b="1" spc="-4" kern="0" dirty="0">
                <a:solidFill>
                  <a:srgbClr val="F4F0EA"/>
                </a:solidFill>
                <a:latin typeface="Arial" pitchFamily="34" charset="0"/>
                <a:ea typeface="Arial" pitchFamily="34" charset="-122"/>
                <a:cs typeface="Arial" pitchFamily="34" charset="-120"/>
              </a:rPr>
              <a:t>
</a:t>
            </a:r>
            <a:r>
              <a:rPr lang="en-US" sz="4850" b="1" spc="-4" kern="0" dirty="0">
                <a:solidFill>
                  <a:srgbClr val="2ECA7F"/>
                </a:solidFill>
                <a:latin typeface="Arial" pitchFamily="34" charset="0"/>
                <a:ea typeface="Arial" pitchFamily="34" charset="-122"/>
                <a:cs typeface="Arial" pitchFamily="34" charset="-120"/>
              </a:rPr>
              <a:t>APAC</a:t>
            </a:r>
            <a:endParaRPr lang="en-US" sz="4850" dirty="0"/>
          </a:p>
        </p:txBody>
      </p:sp>
      <p:sp>
        <p:nvSpPr>
          <p:cNvPr id="10" name="Text 6"/>
          <p:cNvSpPr/>
          <p:nvPr/>
        </p:nvSpPr>
        <p:spPr>
          <a:xfrm>
            <a:off x="342900" y="3179359"/>
            <a:ext cx="5429250" cy="493700"/>
          </a:xfrm>
          <a:prstGeom prst="rect">
            <a:avLst/>
          </a:prstGeom>
          <a:noFill/>
          <a:ln/>
        </p:spPr>
        <p:txBody>
          <a:bodyPr wrap="square" lIns="0" tIns="0" rIns="0" bIns="0" rtlCol="0" anchor="t">
            <a:spAutoFit/>
          </a:bodyPr>
          <a:lstStyle/>
          <a:p>
            <a:pPr algn="l" indent="0" marL="0">
              <a:lnSpc>
                <a:spcPct val="102400"/>
              </a:lnSpc>
              <a:buNone/>
            </a:pPr>
            <a:r>
              <a:rPr lang="en-US" sz="1350" b="1" dirty="0">
                <a:solidFill>
                  <a:srgbClr val="F4F0EA"/>
                </a:solidFill>
                <a:latin typeface="Arial" pitchFamily="34" charset="0"/>
                <a:ea typeface="Arial" pitchFamily="34" charset="-122"/>
                <a:cs typeface="Arial" pitchFamily="34" charset="-120"/>
              </a:rPr>
              <a:t>Make the safe next step obvious</a:t>
            </a:r>
            <a:r>
              <a:rPr lang="en-US" sz="1450" dirty="0">
                <a:solidFill>
                  <a:srgbClr val="A19D98"/>
                </a:solidFill>
                <a:latin typeface="Arial" pitchFamily="34" charset="0"/>
                <a:ea typeface="Arial" pitchFamily="34" charset="-122"/>
                <a:cs typeface="Arial" pitchFamily="34" charset="-120"/>
              </a:rPr>
              <a:t> before a scam becomes a </a:t>
            </a:r>
            <a:r>
              <a:rPr lang="en-US" sz="1450" dirty="0">
                <a:solidFill>
                  <a:srgbClr val="A19D98"/>
                </a:solidFill>
                <a:latin typeface="Arial" pitchFamily="34" charset="0"/>
                <a:ea typeface="Arial" pitchFamily="34" charset="-122"/>
                <a:cs typeface="Arial" pitchFamily="34" charset="-120"/>
              </a:rPr>
              <a:t>transaction.</a:t>
            </a:r>
            <a:endParaRPr lang="en-US" sz="1350" dirty="0"/>
          </a:p>
        </p:txBody>
      </p:sp>
      <p:sp>
        <p:nvSpPr>
          <p:cNvPr id="11" name="Shape 7"/>
          <p:cNvSpPr/>
          <p:nvPr/>
        </p:nvSpPr>
        <p:spPr>
          <a:xfrm>
            <a:off x="342900" y="4296966"/>
            <a:ext cx="8458200" cy="503634"/>
          </a:xfrm>
          <a:prstGeom prst="rect">
            <a:avLst/>
          </a:prstGeom>
          <a:solidFill>
            <a:srgbClr val="000000">
              <a:alpha val="0"/>
            </a:srgbClr>
          </a:solidFill>
          <a:ln/>
        </p:spPr>
      </p:sp>
      <p:sp>
        <p:nvSpPr>
          <p:cNvPr id="12" name="Shape 8"/>
          <p:cNvSpPr/>
          <p:nvPr/>
        </p:nvSpPr>
        <p:spPr>
          <a:xfrm>
            <a:off x="342900" y="4793456"/>
            <a:ext cx="8458200" cy="7144"/>
          </a:xfrm>
          <a:prstGeom prst="rect">
            <a:avLst/>
          </a:prstGeom>
          <a:solidFill>
            <a:srgbClr val="2A2A2C"/>
          </a:solidFill>
          <a:ln/>
        </p:spPr>
      </p:sp>
      <p:sp>
        <p:nvSpPr>
          <p:cNvPr id="13" name="Text 9"/>
          <p:cNvSpPr/>
          <p:nvPr/>
        </p:nvSpPr>
        <p:spPr>
          <a:xfrm>
            <a:off x="342900" y="4579144"/>
            <a:ext cx="3720554" cy="135731"/>
          </a:xfrm>
          <a:prstGeom prst="rect">
            <a:avLst/>
          </a:prstGeom>
          <a:noFill/>
          <a:ln/>
        </p:spPr>
        <p:txBody>
          <a:bodyPr wrap="square" lIns="0" tIns="0" rIns="0" bIns="0" rtlCol="0" anchor="t">
            <a:spAutoFit/>
          </a:bodyPr>
          <a:lstStyle/>
          <a:p>
            <a:pPr algn="l" indent="0" marL="0">
              <a:buNone/>
            </a:pPr>
            <a:r>
              <a:rPr lang="en-US" sz="750" dirty="0">
                <a:solidFill>
                  <a:srgbClr val="FFB84D"/>
                </a:solidFill>
                <a:latin typeface="monospace" pitchFamily="34" charset="0"/>
                <a:ea typeface="monospace" pitchFamily="34" charset="-122"/>
                <a:cs typeface="monospace" pitchFamily="34" charset="-120"/>
              </a:rPr>
              <a:t>THEME //</a:t>
            </a:r>
            <a:r>
              <a:rPr lang="en-US" sz="750" dirty="0">
                <a:solidFill>
                  <a:srgbClr val="A19D98"/>
                </a:solidFill>
                <a:latin typeface="monospace" pitchFamily="34" charset="0"/>
                <a:ea typeface="monospace" pitchFamily="34" charset="-122"/>
                <a:cs typeface="monospace" pitchFamily="34" charset="-120"/>
              </a:rPr>
              <a:t> BFSI: INTELLIGENT RISK, FRAUD &amp; FINANCIAL EXPERIENCES</a:t>
            </a:r>
            <a:endParaRPr lang="en-US" sz="750" dirty="0"/>
          </a:p>
        </p:txBody>
      </p:sp>
      <p:sp>
        <p:nvSpPr>
          <p:cNvPr id="14" name="Text 10"/>
          <p:cNvSpPr/>
          <p:nvPr/>
        </p:nvSpPr>
        <p:spPr>
          <a:xfrm>
            <a:off x="8483873" y="4304109"/>
            <a:ext cx="317227" cy="410766"/>
          </a:xfrm>
          <a:prstGeom prst="rect">
            <a:avLst/>
          </a:prstGeom>
          <a:noFill/>
          <a:ln/>
        </p:spPr>
        <p:txBody>
          <a:bodyPr wrap="none" lIns="0" tIns="0" rIns="0" bIns="0" rtlCol="0" anchor="t">
            <a:spAutoFit/>
          </a:bodyPr>
          <a:lstStyle/>
          <a:p>
            <a:pPr algn="l" indent="0" marL="0">
              <a:buNone/>
            </a:pPr>
            <a:r>
              <a:rPr lang="en-US" sz="2100" b="1" spc="-2" kern="0" dirty="0">
                <a:solidFill>
                  <a:srgbClr val="2ECA7F"/>
                </a:solidFill>
                <a:latin typeface="monospace" pitchFamily="34" charset="0"/>
                <a:ea typeface="monospace" pitchFamily="34" charset="-122"/>
                <a:cs typeface="monospace" pitchFamily="34" charset="-120"/>
              </a:rPr>
              <a:t>TL</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320198"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[SYS-01] / THE PROBLEM</a:t>
            </a:r>
            <a:endParaRPr lang="en-US" sz="750" dirty="0"/>
          </a:p>
        </p:txBody>
      </p:sp>
      <p:sp>
        <p:nvSpPr>
          <p:cNvPr id="7" name="Text 3"/>
          <p:cNvSpPr/>
          <p:nvPr/>
        </p:nvSpPr>
        <p:spPr>
          <a:xfrm>
            <a:off x="7120868" y="428625"/>
            <a:ext cx="1680232"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TRUST EVENT → FINANCIAL LOSS</a:t>
            </a:r>
            <a:endParaRPr lang="en-US" sz="750" dirty="0"/>
          </a:p>
        </p:txBody>
      </p:sp>
      <p:sp>
        <p:nvSpPr>
          <p:cNvPr id="8" name="Text 4"/>
          <p:cNvSpPr/>
          <p:nvPr/>
        </p:nvSpPr>
        <p:spPr>
          <a:xfrm>
            <a:off x="342900" y="864394"/>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The moment before the loss</a:t>
            </a:r>
            <a:endParaRPr lang="en-US" sz="2300" dirty="0"/>
          </a:p>
        </p:txBody>
      </p:sp>
      <p:sp>
        <p:nvSpPr>
          <p:cNvPr id="9" name="Text 5"/>
          <p:cNvSpPr/>
          <p:nvPr/>
        </p:nvSpPr>
        <p:spPr>
          <a:xfrm>
            <a:off x="342900" y="1289447"/>
            <a:ext cx="8458200" cy="135731"/>
          </a:xfrm>
          <a:prstGeom prst="rect">
            <a:avLst/>
          </a:prstGeom>
          <a:noFill/>
          <a:ln/>
        </p:spPr>
        <p:txBody>
          <a:bodyPr wrap="square" lIns="0" tIns="0" rIns="0" bIns="0" rtlCol="0" anchor="t">
            <a:spAutoFit/>
          </a:bodyPr>
          <a:lstStyle/>
          <a:p>
            <a:pPr algn="l" indent="0" marL="0">
              <a:buNone/>
            </a:pPr>
            <a:r>
              <a:rPr lang="en-US" sz="750" dirty="0">
                <a:solidFill>
                  <a:srgbClr val="FF6B6B"/>
                </a:solidFill>
                <a:latin typeface="monospace" pitchFamily="34" charset="0"/>
                <a:ea typeface="monospace" pitchFamily="34" charset="-122"/>
                <a:cs typeface="monospace" pitchFamily="34" charset="-120"/>
              </a:rPr>
              <a:t>A scam is not just a bad message. It is a high-pressure decision.</a:t>
            </a:r>
            <a:endParaRPr lang="en-US" sz="750" dirty="0"/>
          </a:p>
        </p:txBody>
      </p:sp>
      <p:sp>
        <p:nvSpPr>
          <p:cNvPr id="10" name="Text 6"/>
          <p:cNvSpPr/>
          <p:nvPr/>
        </p:nvSpPr>
        <p:spPr>
          <a:xfrm>
            <a:off x="342900" y="2315691"/>
            <a:ext cx="4384811" cy="1372939"/>
          </a:xfrm>
          <a:prstGeom prst="rect">
            <a:avLst/>
          </a:prstGeom>
          <a:noFill/>
          <a:ln/>
        </p:spPr>
        <p:txBody>
          <a:bodyPr wrap="square" lIns="204089" tIns="0" rIns="0" bIns="0" rtlCol="0" anchor="t">
            <a:spAutoFit/>
          </a:bodyPr>
          <a:lstStyle/>
          <a:p>
            <a:pPr algn="l" indent="0" marL="0">
              <a:lnSpc>
                <a:spcPct val="99200"/>
              </a:lnSpc>
              <a:buNone/>
            </a:pPr>
            <a:r>
              <a:rPr lang="en-US" sz="1650" dirty="0">
                <a:solidFill>
                  <a:srgbClr val="F4F0EA"/>
                </a:solidFill>
                <a:latin typeface="Arial" pitchFamily="34" charset="0"/>
                <a:ea typeface="Arial" pitchFamily="34" charset="-122"/>
                <a:cs typeface="Arial" pitchFamily="34" charset="-120"/>
              </a:rPr>
              <a:t>“Your refund is pending. Share your OTP </a:t>
            </a:r>
            <a:r>
              <a:rPr lang="en-US" sz="1650" dirty="0">
                <a:solidFill>
                  <a:srgbClr val="F4F0EA"/>
                </a:solidFill>
                <a:latin typeface="Arial" pitchFamily="34" charset="0"/>
                <a:ea typeface="Arial" pitchFamily="34" charset="-122"/>
                <a:cs typeface="Arial" pitchFamily="34" charset="-120"/>
              </a:rPr>
              <a:t>and click the link to release the money.”</a:t>
            </a:r>
            <a:r>
              <a:rPr lang="en-US" sz="1650" dirty="0">
                <a:solidFill>
                  <a:srgbClr val="F4F0EA"/>
                </a:solidFill>
                <a:latin typeface="Arial" pitchFamily="34" charset="0"/>
                <a:ea typeface="Arial" pitchFamily="34" charset="-122"/>
                <a:cs typeface="Arial" pitchFamily="34" charset="-120"/>
              </a:rPr>
              <a:t>
</a:t>
            </a:r>
            <a:r>
              <a:rPr lang="en-US" sz="1650" dirty="0">
                <a:solidFill>
                  <a:srgbClr val="A19D98"/>
                </a:solidFill>
                <a:latin typeface="Arial" pitchFamily="34" charset="0"/>
                <a:ea typeface="Arial" pitchFamily="34" charset="-122"/>
                <a:cs typeface="Arial" pitchFamily="34" charset="-120"/>
              </a:rPr>
              <a:t>One message. Four signals. Zero context </a:t>
            </a:r>
            <a:r>
              <a:rPr lang="en-US" sz="1650" dirty="0">
                <a:solidFill>
                  <a:srgbClr val="A19D98"/>
                </a:solidFill>
                <a:latin typeface="Arial" pitchFamily="34" charset="0"/>
                <a:ea typeface="Arial" pitchFamily="34" charset="-122"/>
                <a:cs typeface="Arial" pitchFamily="34" charset="-120"/>
              </a:rPr>
              <a:t>for the user.</a:t>
            </a:r>
            <a:endParaRPr lang="en-US" sz="1650" dirty="0"/>
          </a:p>
        </p:txBody>
      </p:sp>
      <p:sp>
        <p:nvSpPr>
          <p:cNvPr id="11" name="Shape 7"/>
          <p:cNvSpPr/>
          <p:nvPr/>
        </p:nvSpPr>
        <p:spPr>
          <a:xfrm>
            <a:off x="5213486" y="1913520"/>
            <a:ext cx="3587558" cy="2177281"/>
          </a:xfrm>
          <a:prstGeom prst="rect">
            <a:avLst/>
          </a:prstGeom>
          <a:solidFill>
            <a:srgbClr val="2A2A2C"/>
          </a:solidFill>
          <a:ln w="9144">
            <a:solidFill>
              <a:srgbClr val="2A2A2C"/>
            </a:solidFill>
            <a:prstDash val="solid"/>
          </a:ln>
        </p:spPr>
      </p:sp>
      <p:sp>
        <p:nvSpPr>
          <p:cNvPr id="12" name="Shape 8"/>
          <p:cNvSpPr/>
          <p:nvPr/>
        </p:nvSpPr>
        <p:spPr>
          <a:xfrm>
            <a:off x="5213486" y="1920664"/>
            <a:ext cx="1790179" cy="1007938"/>
          </a:xfrm>
          <a:prstGeom prst="rect">
            <a:avLst/>
          </a:prstGeom>
          <a:solidFill>
            <a:srgbClr val="1A1A1D"/>
          </a:solidFill>
          <a:ln/>
        </p:spPr>
      </p:sp>
      <p:sp>
        <p:nvSpPr>
          <p:cNvPr id="13" name="Text 9"/>
          <p:cNvSpPr/>
          <p:nvPr/>
        </p:nvSpPr>
        <p:spPr>
          <a:xfrm>
            <a:off x="5370649" y="2077827"/>
            <a:ext cx="1475854" cy="271463"/>
          </a:xfrm>
          <a:prstGeom prst="rect">
            <a:avLst/>
          </a:prstGeom>
          <a:noFill/>
          <a:ln/>
        </p:spPr>
        <p:txBody>
          <a:bodyPr wrap="square" lIns="0" tIns="0" rIns="0" bIns="0" rtlCol="0" anchor="t">
            <a:spAutoFit/>
          </a:bodyPr>
          <a:lstStyle/>
          <a:p>
            <a:pPr algn="l" indent="0" marL="0">
              <a:buNone/>
            </a:pPr>
            <a:r>
              <a:rPr lang="en-US" sz="1500" dirty="0">
                <a:solidFill>
                  <a:srgbClr val="FF6B6B"/>
                </a:solidFill>
                <a:latin typeface="monospace" pitchFamily="34" charset="0"/>
                <a:ea typeface="monospace" pitchFamily="34" charset="-122"/>
                <a:cs typeface="monospace" pitchFamily="34" charset="-120"/>
              </a:rPr>
              <a:t>01</a:t>
            </a:r>
            <a:endParaRPr lang="en-US" sz="1500" dirty="0"/>
          </a:p>
        </p:txBody>
      </p:sp>
      <p:sp>
        <p:nvSpPr>
          <p:cNvPr id="14" name="Text 10"/>
          <p:cNvSpPr/>
          <p:nvPr/>
        </p:nvSpPr>
        <p:spPr>
          <a:xfrm>
            <a:off x="5370649" y="2442158"/>
            <a:ext cx="1475854" cy="139303"/>
          </a:xfrm>
          <a:prstGeom prst="rect">
            <a:avLst/>
          </a:prstGeom>
          <a:noFill/>
          <a:ln/>
        </p:spPr>
        <p:txBody>
          <a:bodyPr wrap="square" lIns="0" tIns="0" rIns="0" bIns="0" rtlCol="0" anchor="t">
            <a:spAutoFit/>
          </a:bodyPr>
          <a:lstStyle/>
          <a:p>
            <a:pPr algn="l" indent="0" marL="0">
              <a:buNone/>
            </a:pPr>
            <a:r>
              <a:rPr lang="en-US" sz="850" b="1" dirty="0">
                <a:solidFill>
                  <a:srgbClr val="F4F0EA"/>
                </a:solidFill>
                <a:latin typeface="Arial" pitchFamily="34" charset="0"/>
                <a:ea typeface="Arial" pitchFamily="34" charset="-122"/>
                <a:cs typeface="Arial" pitchFamily="34" charset="-120"/>
              </a:rPr>
              <a:t>Impersonation</a:t>
            </a:r>
            <a:endParaRPr lang="en-US" sz="850" dirty="0"/>
          </a:p>
        </p:txBody>
      </p:sp>
      <p:sp>
        <p:nvSpPr>
          <p:cNvPr id="15" name="Text 11"/>
          <p:cNvSpPr/>
          <p:nvPr/>
        </p:nvSpPr>
        <p:spPr>
          <a:xfrm>
            <a:off x="5370649" y="2631467"/>
            <a:ext cx="1475854" cy="139973"/>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Looks like a trusted institution.</a:t>
            </a:r>
            <a:endParaRPr lang="en-US" sz="750" dirty="0"/>
          </a:p>
        </p:txBody>
      </p:sp>
      <p:sp>
        <p:nvSpPr>
          <p:cNvPr id="16" name="Shape 12"/>
          <p:cNvSpPr/>
          <p:nvPr/>
        </p:nvSpPr>
        <p:spPr>
          <a:xfrm>
            <a:off x="7010809" y="1920664"/>
            <a:ext cx="1790235" cy="1007938"/>
          </a:xfrm>
          <a:prstGeom prst="rect">
            <a:avLst/>
          </a:prstGeom>
          <a:solidFill>
            <a:srgbClr val="1A1A1D"/>
          </a:solidFill>
          <a:ln/>
        </p:spPr>
      </p:sp>
      <p:sp>
        <p:nvSpPr>
          <p:cNvPr id="17" name="Text 13"/>
          <p:cNvSpPr/>
          <p:nvPr/>
        </p:nvSpPr>
        <p:spPr>
          <a:xfrm>
            <a:off x="7167972" y="2077827"/>
            <a:ext cx="1475910" cy="271463"/>
          </a:xfrm>
          <a:prstGeom prst="rect">
            <a:avLst/>
          </a:prstGeom>
          <a:noFill/>
          <a:ln/>
        </p:spPr>
        <p:txBody>
          <a:bodyPr wrap="square" lIns="0" tIns="0" rIns="0" bIns="0" rtlCol="0" anchor="t">
            <a:spAutoFit/>
          </a:bodyPr>
          <a:lstStyle/>
          <a:p>
            <a:pPr algn="l" indent="0" marL="0">
              <a:buNone/>
            </a:pPr>
            <a:r>
              <a:rPr lang="en-US" sz="1500" dirty="0">
                <a:solidFill>
                  <a:srgbClr val="FF6B6B"/>
                </a:solidFill>
                <a:latin typeface="monospace" pitchFamily="34" charset="0"/>
                <a:ea typeface="monospace" pitchFamily="34" charset="-122"/>
                <a:cs typeface="monospace" pitchFamily="34" charset="-120"/>
              </a:rPr>
              <a:t>02</a:t>
            </a:r>
            <a:endParaRPr lang="en-US" sz="1500" dirty="0"/>
          </a:p>
        </p:txBody>
      </p:sp>
      <p:sp>
        <p:nvSpPr>
          <p:cNvPr id="18" name="Text 14"/>
          <p:cNvSpPr/>
          <p:nvPr/>
        </p:nvSpPr>
        <p:spPr>
          <a:xfrm>
            <a:off x="7167972" y="2442158"/>
            <a:ext cx="1475910" cy="139303"/>
          </a:xfrm>
          <a:prstGeom prst="rect">
            <a:avLst/>
          </a:prstGeom>
          <a:noFill/>
          <a:ln/>
        </p:spPr>
        <p:txBody>
          <a:bodyPr wrap="square" lIns="0" tIns="0" rIns="0" bIns="0" rtlCol="0" anchor="t">
            <a:spAutoFit/>
          </a:bodyPr>
          <a:lstStyle/>
          <a:p>
            <a:pPr algn="l" indent="0" marL="0">
              <a:buNone/>
            </a:pPr>
            <a:r>
              <a:rPr lang="en-US" sz="850" b="1" dirty="0">
                <a:solidFill>
                  <a:srgbClr val="F4F0EA"/>
                </a:solidFill>
                <a:latin typeface="Arial" pitchFamily="34" charset="0"/>
                <a:ea typeface="Arial" pitchFamily="34" charset="-122"/>
                <a:cs typeface="Arial" pitchFamily="34" charset="-120"/>
              </a:rPr>
              <a:t>Urgency</a:t>
            </a:r>
            <a:endParaRPr lang="en-US" sz="850" dirty="0"/>
          </a:p>
        </p:txBody>
      </p:sp>
      <p:sp>
        <p:nvSpPr>
          <p:cNvPr id="19" name="Text 15"/>
          <p:cNvSpPr/>
          <p:nvPr/>
        </p:nvSpPr>
        <p:spPr>
          <a:xfrm>
            <a:off x="7167972" y="2631467"/>
            <a:ext cx="1475910" cy="139973"/>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Compresses time for verification.</a:t>
            </a:r>
            <a:endParaRPr lang="en-US" sz="750" dirty="0"/>
          </a:p>
        </p:txBody>
      </p:sp>
      <p:sp>
        <p:nvSpPr>
          <p:cNvPr id="20" name="Shape 16"/>
          <p:cNvSpPr/>
          <p:nvPr/>
        </p:nvSpPr>
        <p:spPr>
          <a:xfrm>
            <a:off x="5213486" y="2935746"/>
            <a:ext cx="1790179" cy="1147911"/>
          </a:xfrm>
          <a:prstGeom prst="rect">
            <a:avLst/>
          </a:prstGeom>
          <a:solidFill>
            <a:srgbClr val="1A1A1D"/>
          </a:solidFill>
          <a:ln/>
        </p:spPr>
      </p:sp>
      <p:sp>
        <p:nvSpPr>
          <p:cNvPr id="21" name="Text 17"/>
          <p:cNvSpPr/>
          <p:nvPr/>
        </p:nvSpPr>
        <p:spPr>
          <a:xfrm>
            <a:off x="5370649" y="3092909"/>
            <a:ext cx="1475854" cy="271463"/>
          </a:xfrm>
          <a:prstGeom prst="rect">
            <a:avLst/>
          </a:prstGeom>
          <a:noFill/>
          <a:ln/>
        </p:spPr>
        <p:txBody>
          <a:bodyPr wrap="square" lIns="0" tIns="0" rIns="0" bIns="0" rtlCol="0" anchor="t">
            <a:spAutoFit/>
          </a:bodyPr>
          <a:lstStyle/>
          <a:p>
            <a:pPr algn="l" indent="0" marL="0">
              <a:buNone/>
            </a:pPr>
            <a:r>
              <a:rPr lang="en-US" sz="1500" dirty="0">
                <a:solidFill>
                  <a:srgbClr val="FF6B6B"/>
                </a:solidFill>
                <a:latin typeface="monospace" pitchFamily="34" charset="0"/>
                <a:ea typeface="monospace" pitchFamily="34" charset="-122"/>
                <a:cs typeface="monospace" pitchFamily="34" charset="-120"/>
              </a:rPr>
              <a:t>03</a:t>
            </a:r>
            <a:endParaRPr lang="en-US" sz="1500" dirty="0"/>
          </a:p>
        </p:txBody>
      </p:sp>
      <p:sp>
        <p:nvSpPr>
          <p:cNvPr id="22" name="Text 18"/>
          <p:cNvSpPr/>
          <p:nvPr/>
        </p:nvSpPr>
        <p:spPr>
          <a:xfrm>
            <a:off x="5370649" y="3457240"/>
            <a:ext cx="1475854" cy="139303"/>
          </a:xfrm>
          <a:prstGeom prst="rect">
            <a:avLst/>
          </a:prstGeom>
          <a:noFill/>
          <a:ln/>
        </p:spPr>
        <p:txBody>
          <a:bodyPr wrap="square" lIns="0" tIns="0" rIns="0" bIns="0" rtlCol="0" anchor="t">
            <a:spAutoFit/>
          </a:bodyPr>
          <a:lstStyle/>
          <a:p>
            <a:pPr algn="l" indent="0" marL="0">
              <a:buNone/>
            </a:pPr>
            <a:r>
              <a:rPr lang="en-US" sz="850" b="1" dirty="0">
                <a:solidFill>
                  <a:srgbClr val="F4F0EA"/>
                </a:solidFill>
                <a:latin typeface="Arial" pitchFamily="34" charset="0"/>
                <a:ea typeface="Arial" pitchFamily="34" charset="-122"/>
                <a:cs typeface="Arial" pitchFamily="34" charset="-120"/>
              </a:rPr>
              <a:t>Credential ask</a:t>
            </a:r>
            <a:endParaRPr lang="en-US" sz="850" dirty="0"/>
          </a:p>
        </p:txBody>
      </p:sp>
      <p:sp>
        <p:nvSpPr>
          <p:cNvPr id="23" name="Text 19"/>
          <p:cNvSpPr/>
          <p:nvPr/>
        </p:nvSpPr>
        <p:spPr>
          <a:xfrm>
            <a:off x="5370649" y="3646550"/>
            <a:ext cx="1475854" cy="139973"/>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Requests an OTP or password.</a:t>
            </a:r>
            <a:endParaRPr lang="en-US" sz="750" dirty="0"/>
          </a:p>
        </p:txBody>
      </p:sp>
      <p:sp>
        <p:nvSpPr>
          <p:cNvPr id="24" name="Shape 20"/>
          <p:cNvSpPr/>
          <p:nvPr/>
        </p:nvSpPr>
        <p:spPr>
          <a:xfrm>
            <a:off x="7010809" y="2935746"/>
            <a:ext cx="1790235" cy="1147911"/>
          </a:xfrm>
          <a:prstGeom prst="rect">
            <a:avLst/>
          </a:prstGeom>
          <a:solidFill>
            <a:srgbClr val="1A1A1D"/>
          </a:solidFill>
          <a:ln/>
        </p:spPr>
      </p:sp>
      <p:sp>
        <p:nvSpPr>
          <p:cNvPr id="25" name="Text 21"/>
          <p:cNvSpPr/>
          <p:nvPr/>
        </p:nvSpPr>
        <p:spPr>
          <a:xfrm>
            <a:off x="7167972" y="3092909"/>
            <a:ext cx="1475910" cy="271463"/>
          </a:xfrm>
          <a:prstGeom prst="rect">
            <a:avLst/>
          </a:prstGeom>
          <a:noFill/>
          <a:ln/>
        </p:spPr>
        <p:txBody>
          <a:bodyPr wrap="square" lIns="0" tIns="0" rIns="0" bIns="0" rtlCol="0" anchor="t">
            <a:spAutoFit/>
          </a:bodyPr>
          <a:lstStyle/>
          <a:p>
            <a:pPr algn="l" indent="0" marL="0">
              <a:buNone/>
            </a:pPr>
            <a:r>
              <a:rPr lang="en-US" sz="1500" dirty="0">
                <a:solidFill>
                  <a:srgbClr val="FF6B6B"/>
                </a:solidFill>
                <a:latin typeface="monospace" pitchFamily="34" charset="0"/>
                <a:ea typeface="monospace" pitchFamily="34" charset="-122"/>
                <a:cs typeface="monospace" pitchFamily="34" charset="-120"/>
              </a:rPr>
              <a:t>04</a:t>
            </a:r>
            <a:endParaRPr lang="en-US" sz="1500" dirty="0"/>
          </a:p>
        </p:txBody>
      </p:sp>
      <p:sp>
        <p:nvSpPr>
          <p:cNvPr id="26" name="Text 22"/>
          <p:cNvSpPr/>
          <p:nvPr/>
        </p:nvSpPr>
        <p:spPr>
          <a:xfrm>
            <a:off x="7167972" y="3457240"/>
            <a:ext cx="1475910" cy="139303"/>
          </a:xfrm>
          <a:prstGeom prst="rect">
            <a:avLst/>
          </a:prstGeom>
          <a:noFill/>
          <a:ln/>
        </p:spPr>
        <p:txBody>
          <a:bodyPr wrap="square" lIns="0" tIns="0" rIns="0" bIns="0" rtlCol="0" anchor="t">
            <a:spAutoFit/>
          </a:bodyPr>
          <a:lstStyle/>
          <a:p>
            <a:pPr algn="l" indent="0" marL="0">
              <a:buNone/>
            </a:pPr>
            <a:r>
              <a:rPr lang="en-US" sz="850" b="1" dirty="0">
                <a:solidFill>
                  <a:srgbClr val="F4F0EA"/>
                </a:solidFill>
                <a:latin typeface="Arial" pitchFamily="34" charset="0"/>
                <a:ea typeface="Arial" pitchFamily="34" charset="-122"/>
                <a:cs typeface="Arial" pitchFamily="34" charset="-120"/>
              </a:rPr>
              <a:t>Redirect</a:t>
            </a:r>
            <a:endParaRPr lang="en-US" sz="850" dirty="0"/>
          </a:p>
        </p:txBody>
      </p:sp>
      <p:sp>
        <p:nvSpPr>
          <p:cNvPr id="27" name="Text 23"/>
          <p:cNvSpPr/>
          <p:nvPr/>
        </p:nvSpPr>
        <p:spPr>
          <a:xfrm>
            <a:off x="7167972" y="3646550"/>
            <a:ext cx="1475910"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Moves the user to an unsolicited link.</a:t>
            </a:r>
            <a:endParaRPr lang="en-US" sz="750" dirty="0"/>
          </a:p>
        </p:txBody>
      </p:sp>
      <p:sp>
        <p:nvSpPr>
          <p:cNvPr id="28" name="Shape 24"/>
          <p:cNvSpPr/>
          <p:nvPr/>
        </p:nvSpPr>
        <p:spPr>
          <a:xfrm>
            <a:off x="342900" y="4579144"/>
            <a:ext cx="8458200" cy="221456"/>
          </a:xfrm>
          <a:prstGeom prst="rect">
            <a:avLst/>
          </a:prstGeom>
          <a:solidFill>
            <a:srgbClr val="000000">
              <a:alpha val="0"/>
            </a:srgbClr>
          </a:solidFill>
          <a:ln/>
        </p:spPr>
      </p:sp>
      <p:sp>
        <p:nvSpPr>
          <p:cNvPr id="29" name="Shape 25"/>
          <p:cNvSpPr/>
          <p:nvPr/>
        </p:nvSpPr>
        <p:spPr>
          <a:xfrm>
            <a:off x="342900" y="4793456"/>
            <a:ext cx="8458200" cy="7144"/>
          </a:xfrm>
          <a:prstGeom prst="rect">
            <a:avLst/>
          </a:prstGeom>
          <a:solidFill>
            <a:srgbClr val="2A2A2C"/>
          </a:solidFill>
          <a:ln/>
        </p:spPr>
      </p:sp>
      <p:sp>
        <p:nvSpPr>
          <p:cNvPr id="30" name="Text 26"/>
          <p:cNvSpPr/>
          <p:nvPr/>
        </p:nvSpPr>
        <p:spPr>
          <a:xfrm>
            <a:off x="342900" y="4579144"/>
            <a:ext cx="8458200" cy="221456"/>
          </a:xfrm>
          <a:prstGeom prst="rect">
            <a:avLst/>
          </a:prstGeom>
          <a:noFill/>
          <a:ln/>
        </p:spPr>
        <p:txBody>
          <a:bodyPr wrap="square" lIns="0" tIns="0" rIns="0" bIns="102108" rtlCol="0" anchor="t">
            <a:spAutoFit/>
          </a:bodyPr>
          <a:lstStyle/>
          <a:p>
            <a:pPr algn="l" indent="0" marL="0">
              <a:buNone/>
            </a:pPr>
            <a:r>
              <a:rPr lang="en-US" sz="650" dirty="0">
                <a:solidFill>
                  <a:srgbClr val="A19D98"/>
                </a:solidFill>
                <a:latin typeface="monospace" pitchFamily="34" charset="0"/>
                <a:ea typeface="monospace" pitchFamily="34" charset="-122"/>
                <a:cs typeface="monospace" pitchFamily="34" charset="-120"/>
              </a:rPr>
              <a:t>THE GAP // Users need an immediate safe action. Analysts need evidence, policy context, and a review boundary.</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380195"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[SYS-02] / THE SOLUTION</a:t>
            </a:r>
            <a:endParaRPr lang="en-US" sz="750" dirty="0"/>
          </a:p>
        </p:txBody>
      </p:sp>
      <p:sp>
        <p:nvSpPr>
          <p:cNvPr id="7" name="Text 3"/>
          <p:cNvSpPr/>
          <p:nvPr/>
        </p:nvSpPr>
        <p:spPr>
          <a:xfrm>
            <a:off x="7060871" y="428625"/>
            <a:ext cx="1740229"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TEXT + IMAGE → SAFE NEXT STEP</a:t>
            </a:r>
            <a:endParaRPr lang="en-US" sz="750" dirty="0"/>
          </a:p>
        </p:txBody>
      </p:sp>
      <p:sp>
        <p:nvSpPr>
          <p:cNvPr id="8" name="Text 4"/>
          <p:cNvSpPr/>
          <p:nvPr/>
        </p:nvSpPr>
        <p:spPr>
          <a:xfrm>
            <a:off x="342900" y="864394"/>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From confusing message to safe action</a:t>
            </a:r>
            <a:endParaRPr lang="en-US" sz="2300" dirty="0"/>
          </a:p>
        </p:txBody>
      </p:sp>
      <p:sp>
        <p:nvSpPr>
          <p:cNvPr id="9" name="Text 5"/>
          <p:cNvSpPr/>
          <p:nvPr/>
        </p:nvSpPr>
        <p:spPr>
          <a:xfrm>
            <a:off x="342900" y="1289447"/>
            <a:ext cx="8458200" cy="139303"/>
          </a:xfrm>
          <a:prstGeom prst="rect">
            <a:avLst/>
          </a:prstGeom>
          <a:noFill/>
          <a:ln/>
        </p:spPr>
        <p:txBody>
          <a:bodyPr wrap="square" lIns="0" tIns="0" rIns="0" bIns="0" rtlCol="0" anchor="t">
            <a:spAutoFit/>
          </a:bodyPr>
          <a:lstStyle/>
          <a:p>
            <a:pPr algn="l" indent="0" marL="0">
              <a:buNone/>
            </a:pPr>
            <a:r>
              <a:rPr lang="en-US" sz="900" dirty="0">
                <a:solidFill>
                  <a:srgbClr val="A19D98"/>
                </a:solidFill>
                <a:latin typeface="Arial" pitchFamily="34" charset="0"/>
                <a:ea typeface="Arial" pitchFamily="34" charset="-122"/>
                <a:cs typeface="Arial" pitchFamily="34" charset="-120"/>
              </a:rPr>
              <a:t>TrustLens turns unstructured evidence into a conservative, explainable intervention.</a:t>
            </a:r>
            <a:endParaRPr lang="en-US" sz="900" dirty="0"/>
          </a:p>
        </p:txBody>
      </p:sp>
      <p:sp>
        <p:nvSpPr>
          <p:cNvPr id="10" name="Text 6"/>
          <p:cNvSpPr/>
          <p:nvPr/>
        </p:nvSpPr>
        <p:spPr>
          <a:xfrm>
            <a:off x="521494" y="2539603"/>
            <a:ext cx="1764506" cy="135731"/>
          </a:xfrm>
          <a:prstGeom prst="rect">
            <a:avLst/>
          </a:prstGeom>
          <a:noFill/>
          <a:ln/>
        </p:spPr>
        <p:txBody>
          <a:bodyPr wrap="square" lIns="0" tIns="0" rIns="0" bIns="0" rtlCol="0" anchor="t">
            <a:spAutoFit/>
          </a:bodyPr>
          <a:lstStyle/>
          <a:p>
            <a:pPr algn="l" indent="0" marL="0">
              <a:buNone/>
            </a:pPr>
            <a:r>
              <a:rPr lang="en-US" sz="750" dirty="0">
                <a:solidFill>
                  <a:srgbClr val="2ECA7F"/>
                </a:solidFill>
                <a:latin typeface="monospace" pitchFamily="34" charset="0"/>
                <a:ea typeface="monospace" pitchFamily="34" charset="-122"/>
                <a:cs typeface="monospace" pitchFamily="34" charset="-120"/>
              </a:rPr>
              <a:t>01 / INTAKE</a:t>
            </a:r>
            <a:endParaRPr lang="en-US" sz="750" dirty="0"/>
          </a:p>
        </p:txBody>
      </p:sp>
      <p:sp>
        <p:nvSpPr>
          <p:cNvPr id="11" name="Text 7"/>
          <p:cNvSpPr/>
          <p:nvPr/>
        </p:nvSpPr>
        <p:spPr>
          <a:xfrm>
            <a:off x="521494" y="2832497"/>
            <a:ext cx="1764506" cy="178594"/>
          </a:xfrm>
          <a:prstGeom prst="rect">
            <a:avLst/>
          </a:prstGeom>
          <a:noFill/>
          <a:ln/>
        </p:spPr>
        <p:txBody>
          <a:bodyPr wrap="square" lIns="0" tIns="0" rIns="0" bIns="0" rtlCol="0" anchor="t">
            <a:spAutoFit/>
          </a:bodyPr>
          <a:lstStyle/>
          <a:p>
            <a:pPr algn="l" indent="0" marL="0">
              <a:buNone/>
            </a:pPr>
            <a:r>
              <a:rPr lang="en-US" sz="1100" b="1" dirty="0">
                <a:solidFill>
                  <a:srgbClr val="F4F0EA"/>
                </a:solidFill>
                <a:latin typeface="Arial" pitchFamily="34" charset="0"/>
                <a:ea typeface="Arial" pitchFamily="34" charset="-122"/>
                <a:cs typeface="Arial" pitchFamily="34" charset="-120"/>
              </a:rPr>
              <a:t>Capture</a:t>
            </a:r>
            <a:endParaRPr lang="en-US" sz="1100" dirty="0"/>
          </a:p>
        </p:txBody>
      </p:sp>
      <p:sp>
        <p:nvSpPr>
          <p:cNvPr id="12" name="Text 8"/>
          <p:cNvSpPr/>
          <p:nvPr/>
        </p:nvSpPr>
        <p:spPr>
          <a:xfrm>
            <a:off x="521494" y="3082528"/>
            <a:ext cx="1764506" cy="289992"/>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A19D98"/>
                </a:solidFill>
                <a:latin typeface="Arial" pitchFamily="34" charset="0"/>
                <a:ea typeface="Arial" pitchFamily="34" charset="-122"/>
                <a:cs typeface="Arial" pitchFamily="34" charset="-120"/>
              </a:rPr>
              <a:t>Paste a message or upload a screenshot. Select the user’s language.</a:t>
            </a:r>
            <a:endParaRPr lang="en-US" sz="750" dirty="0"/>
          </a:p>
        </p:txBody>
      </p:sp>
      <p:sp>
        <p:nvSpPr>
          <p:cNvPr id="13" name="Shape 9"/>
          <p:cNvSpPr/>
          <p:nvPr/>
        </p:nvSpPr>
        <p:spPr>
          <a:xfrm>
            <a:off x="2414588" y="3046809"/>
            <a:ext cx="128588" cy="239316"/>
          </a:xfrm>
          <a:prstGeom prst="rect">
            <a:avLst/>
          </a:prstGeom>
          <a:solidFill>
            <a:srgbClr val="0F0F11"/>
          </a:solidFill>
          <a:ln/>
        </p:spPr>
      </p:sp>
      <p:sp>
        <p:nvSpPr>
          <p:cNvPr id="14" name="Text 10"/>
          <p:cNvSpPr/>
          <p:nvPr/>
        </p:nvSpPr>
        <p:spPr>
          <a:xfrm>
            <a:off x="2414588" y="3046809"/>
            <a:ext cx="128588" cy="239316"/>
          </a:xfrm>
          <a:prstGeom prst="rect">
            <a:avLst/>
          </a:prstGeom>
          <a:noFill/>
          <a:ln/>
        </p:spPr>
        <p:txBody>
          <a:bodyPr wrap="none" lIns="25527" tIns="25527" rIns="25527" bIns="25527" rtlCol="0" anchor="t">
            <a:spAutoFit/>
          </a:bodyPr>
          <a:lstStyle/>
          <a:p>
            <a:pPr algn="l" indent="0" marL="0">
              <a:buNone/>
            </a:pPr>
            <a:r>
              <a:rPr lang="en-US" sz="1050" dirty="0">
                <a:solidFill>
                  <a:srgbClr val="2ECA7F"/>
                </a:solidFill>
                <a:latin typeface="monospace" pitchFamily="34" charset="0"/>
                <a:ea typeface="monospace" pitchFamily="34" charset="-122"/>
                <a:cs typeface="monospace" pitchFamily="34" charset="-120"/>
              </a:rPr>
              <a:t>→</a:t>
            </a:r>
            <a:endParaRPr lang="en-US" sz="1050" dirty="0"/>
          </a:p>
        </p:txBody>
      </p:sp>
      <p:sp>
        <p:nvSpPr>
          <p:cNvPr id="15" name="Text 11"/>
          <p:cNvSpPr/>
          <p:nvPr/>
        </p:nvSpPr>
        <p:spPr>
          <a:xfrm>
            <a:off x="2636044" y="2539603"/>
            <a:ext cx="1764506" cy="135731"/>
          </a:xfrm>
          <a:prstGeom prst="rect">
            <a:avLst/>
          </a:prstGeom>
          <a:noFill/>
          <a:ln/>
        </p:spPr>
        <p:txBody>
          <a:bodyPr wrap="square" lIns="0" tIns="0" rIns="0" bIns="0" rtlCol="0" anchor="t">
            <a:spAutoFit/>
          </a:bodyPr>
          <a:lstStyle/>
          <a:p>
            <a:pPr algn="l" indent="0" marL="0">
              <a:buNone/>
            </a:pPr>
            <a:r>
              <a:rPr lang="en-US" sz="750" dirty="0">
                <a:solidFill>
                  <a:srgbClr val="2ECA7F"/>
                </a:solidFill>
                <a:latin typeface="monospace" pitchFamily="34" charset="0"/>
                <a:ea typeface="monospace" pitchFamily="34" charset="-122"/>
                <a:cs typeface="monospace" pitchFamily="34" charset="-120"/>
              </a:rPr>
              <a:t>02 / EVIDENCE</a:t>
            </a:r>
            <a:endParaRPr lang="en-US" sz="750" dirty="0"/>
          </a:p>
        </p:txBody>
      </p:sp>
      <p:sp>
        <p:nvSpPr>
          <p:cNvPr id="16" name="Text 12"/>
          <p:cNvSpPr/>
          <p:nvPr/>
        </p:nvSpPr>
        <p:spPr>
          <a:xfrm>
            <a:off x="2636044" y="2832497"/>
            <a:ext cx="1764506" cy="178594"/>
          </a:xfrm>
          <a:prstGeom prst="rect">
            <a:avLst/>
          </a:prstGeom>
          <a:noFill/>
          <a:ln/>
        </p:spPr>
        <p:txBody>
          <a:bodyPr wrap="square" lIns="0" tIns="0" rIns="0" bIns="0" rtlCol="0" anchor="t">
            <a:spAutoFit/>
          </a:bodyPr>
          <a:lstStyle/>
          <a:p>
            <a:pPr algn="l" indent="0" marL="0">
              <a:buNone/>
            </a:pPr>
            <a:r>
              <a:rPr lang="en-US" sz="1100" b="1" dirty="0">
                <a:solidFill>
                  <a:srgbClr val="F4F0EA"/>
                </a:solidFill>
                <a:latin typeface="Arial" pitchFamily="34" charset="0"/>
                <a:ea typeface="Arial" pitchFamily="34" charset="-122"/>
                <a:cs typeface="Arial" pitchFamily="34" charset="-120"/>
              </a:rPr>
              <a:t>Normalize</a:t>
            </a:r>
            <a:endParaRPr lang="en-US" sz="1100" dirty="0"/>
          </a:p>
        </p:txBody>
      </p:sp>
      <p:sp>
        <p:nvSpPr>
          <p:cNvPr id="17" name="Text 13"/>
          <p:cNvSpPr/>
          <p:nvPr/>
        </p:nvSpPr>
        <p:spPr>
          <a:xfrm>
            <a:off x="2636044" y="3082528"/>
            <a:ext cx="1764506"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A19D98"/>
                </a:solidFill>
                <a:latin typeface="Arial" pitchFamily="34" charset="0"/>
                <a:ea typeface="Arial" pitchFamily="34" charset="-122"/>
                <a:cs typeface="Arial" pitchFamily="34" charset="-120"/>
              </a:rPr>
              <a:t>Gemini extracts sender claims, URLs, urgency, requested actions, and evidence IDs.</a:t>
            </a:r>
            <a:endParaRPr lang="en-US" sz="750" dirty="0"/>
          </a:p>
        </p:txBody>
      </p:sp>
      <p:sp>
        <p:nvSpPr>
          <p:cNvPr id="18" name="Shape 14"/>
          <p:cNvSpPr/>
          <p:nvPr/>
        </p:nvSpPr>
        <p:spPr>
          <a:xfrm>
            <a:off x="4529138" y="3046809"/>
            <a:ext cx="128588" cy="239316"/>
          </a:xfrm>
          <a:prstGeom prst="rect">
            <a:avLst/>
          </a:prstGeom>
          <a:solidFill>
            <a:srgbClr val="0F0F11"/>
          </a:solidFill>
          <a:ln/>
        </p:spPr>
      </p:sp>
      <p:sp>
        <p:nvSpPr>
          <p:cNvPr id="19" name="Text 15"/>
          <p:cNvSpPr/>
          <p:nvPr/>
        </p:nvSpPr>
        <p:spPr>
          <a:xfrm>
            <a:off x="4529138" y="3046809"/>
            <a:ext cx="128588" cy="239316"/>
          </a:xfrm>
          <a:prstGeom prst="rect">
            <a:avLst/>
          </a:prstGeom>
          <a:noFill/>
          <a:ln/>
        </p:spPr>
        <p:txBody>
          <a:bodyPr wrap="none" lIns="25527" tIns="25527" rIns="25527" bIns="25527" rtlCol="0" anchor="t">
            <a:spAutoFit/>
          </a:bodyPr>
          <a:lstStyle/>
          <a:p>
            <a:pPr algn="l" indent="0" marL="0">
              <a:buNone/>
            </a:pPr>
            <a:r>
              <a:rPr lang="en-US" sz="1050" dirty="0">
                <a:solidFill>
                  <a:srgbClr val="2ECA7F"/>
                </a:solidFill>
                <a:latin typeface="monospace" pitchFamily="34" charset="0"/>
                <a:ea typeface="monospace" pitchFamily="34" charset="-122"/>
                <a:cs typeface="monospace" pitchFamily="34" charset="-120"/>
              </a:rPr>
              <a:t>→</a:t>
            </a:r>
            <a:endParaRPr lang="en-US" sz="1050" dirty="0"/>
          </a:p>
        </p:txBody>
      </p:sp>
      <p:sp>
        <p:nvSpPr>
          <p:cNvPr id="20" name="Text 16"/>
          <p:cNvSpPr/>
          <p:nvPr/>
        </p:nvSpPr>
        <p:spPr>
          <a:xfrm>
            <a:off x="4750594" y="2539603"/>
            <a:ext cx="1764506" cy="135731"/>
          </a:xfrm>
          <a:prstGeom prst="rect">
            <a:avLst/>
          </a:prstGeom>
          <a:noFill/>
          <a:ln/>
        </p:spPr>
        <p:txBody>
          <a:bodyPr wrap="square" lIns="0" tIns="0" rIns="0" bIns="0" rtlCol="0" anchor="t">
            <a:spAutoFit/>
          </a:bodyPr>
          <a:lstStyle/>
          <a:p>
            <a:pPr algn="l" indent="0" marL="0">
              <a:buNone/>
            </a:pPr>
            <a:r>
              <a:rPr lang="en-US" sz="750" dirty="0">
                <a:solidFill>
                  <a:srgbClr val="2ECA7F"/>
                </a:solidFill>
                <a:latin typeface="monospace" pitchFamily="34" charset="0"/>
                <a:ea typeface="monospace" pitchFamily="34" charset="-122"/>
                <a:cs typeface="monospace" pitchFamily="34" charset="-120"/>
              </a:rPr>
              <a:t>03 / REASON</a:t>
            </a:r>
            <a:endParaRPr lang="en-US" sz="750" dirty="0"/>
          </a:p>
        </p:txBody>
      </p:sp>
      <p:sp>
        <p:nvSpPr>
          <p:cNvPr id="21" name="Text 17"/>
          <p:cNvSpPr/>
          <p:nvPr/>
        </p:nvSpPr>
        <p:spPr>
          <a:xfrm>
            <a:off x="4750594" y="2832497"/>
            <a:ext cx="1764506" cy="178594"/>
          </a:xfrm>
          <a:prstGeom prst="rect">
            <a:avLst/>
          </a:prstGeom>
          <a:noFill/>
          <a:ln/>
        </p:spPr>
        <p:txBody>
          <a:bodyPr wrap="square" lIns="0" tIns="0" rIns="0" bIns="0" rtlCol="0" anchor="t">
            <a:spAutoFit/>
          </a:bodyPr>
          <a:lstStyle/>
          <a:p>
            <a:pPr algn="l" indent="0" marL="0">
              <a:buNone/>
            </a:pPr>
            <a:r>
              <a:rPr lang="en-US" sz="1100" b="1" dirty="0">
                <a:solidFill>
                  <a:srgbClr val="F4F0EA"/>
                </a:solidFill>
                <a:latin typeface="Arial" pitchFamily="34" charset="0"/>
                <a:ea typeface="Arial" pitchFamily="34" charset="-122"/>
                <a:cs typeface="Arial" pitchFamily="34" charset="-120"/>
              </a:rPr>
              <a:t>Ground</a:t>
            </a:r>
            <a:endParaRPr lang="en-US" sz="1100" dirty="0"/>
          </a:p>
        </p:txBody>
      </p:sp>
      <p:sp>
        <p:nvSpPr>
          <p:cNvPr id="22" name="Text 18"/>
          <p:cNvSpPr/>
          <p:nvPr/>
        </p:nvSpPr>
        <p:spPr>
          <a:xfrm>
            <a:off x="4750594" y="3082528"/>
            <a:ext cx="1764506"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A19D98"/>
                </a:solidFill>
                <a:latin typeface="Arial" pitchFamily="34" charset="0"/>
                <a:ea typeface="Arial" pitchFamily="34" charset="-122"/>
                <a:cs typeface="Arial" pitchFamily="34" charset="-120"/>
              </a:rPr>
              <a:t>Pattern analysis and policy retrieval produce a schema-constrained risk synthesis.</a:t>
            </a:r>
            <a:endParaRPr lang="en-US" sz="750" dirty="0"/>
          </a:p>
        </p:txBody>
      </p:sp>
      <p:sp>
        <p:nvSpPr>
          <p:cNvPr id="23" name="Shape 19"/>
          <p:cNvSpPr/>
          <p:nvPr/>
        </p:nvSpPr>
        <p:spPr>
          <a:xfrm>
            <a:off x="6643688" y="3046809"/>
            <a:ext cx="128588" cy="239316"/>
          </a:xfrm>
          <a:prstGeom prst="rect">
            <a:avLst/>
          </a:prstGeom>
          <a:solidFill>
            <a:srgbClr val="0F0F11"/>
          </a:solidFill>
          <a:ln/>
        </p:spPr>
      </p:sp>
      <p:sp>
        <p:nvSpPr>
          <p:cNvPr id="24" name="Text 20"/>
          <p:cNvSpPr/>
          <p:nvPr/>
        </p:nvSpPr>
        <p:spPr>
          <a:xfrm>
            <a:off x="6643688" y="3046809"/>
            <a:ext cx="128588" cy="239316"/>
          </a:xfrm>
          <a:prstGeom prst="rect">
            <a:avLst/>
          </a:prstGeom>
          <a:noFill/>
          <a:ln/>
        </p:spPr>
        <p:txBody>
          <a:bodyPr wrap="none" lIns="25527" tIns="25527" rIns="25527" bIns="25527" rtlCol="0" anchor="t">
            <a:spAutoFit/>
          </a:bodyPr>
          <a:lstStyle/>
          <a:p>
            <a:pPr algn="l" indent="0" marL="0">
              <a:buNone/>
            </a:pPr>
            <a:r>
              <a:rPr lang="en-US" sz="1050" dirty="0">
                <a:solidFill>
                  <a:srgbClr val="2ECA7F"/>
                </a:solidFill>
                <a:latin typeface="monospace" pitchFamily="34" charset="0"/>
                <a:ea typeface="monospace" pitchFamily="34" charset="-122"/>
                <a:cs typeface="monospace" pitchFamily="34" charset="-120"/>
              </a:rPr>
              <a:t>→</a:t>
            </a:r>
            <a:endParaRPr lang="en-US" sz="1050" dirty="0"/>
          </a:p>
        </p:txBody>
      </p:sp>
      <p:sp>
        <p:nvSpPr>
          <p:cNvPr id="25" name="Text 21"/>
          <p:cNvSpPr/>
          <p:nvPr/>
        </p:nvSpPr>
        <p:spPr>
          <a:xfrm>
            <a:off x="6865144" y="2539603"/>
            <a:ext cx="1757363" cy="135731"/>
          </a:xfrm>
          <a:prstGeom prst="rect">
            <a:avLst/>
          </a:prstGeom>
          <a:noFill/>
          <a:ln/>
        </p:spPr>
        <p:txBody>
          <a:bodyPr wrap="square" lIns="0" tIns="0" rIns="0" bIns="0" rtlCol="0" anchor="t">
            <a:spAutoFit/>
          </a:bodyPr>
          <a:lstStyle/>
          <a:p>
            <a:pPr algn="l" indent="0" marL="0">
              <a:buNone/>
            </a:pPr>
            <a:r>
              <a:rPr lang="en-US" sz="750" dirty="0">
                <a:solidFill>
                  <a:srgbClr val="2ECA7F"/>
                </a:solidFill>
                <a:latin typeface="monospace" pitchFamily="34" charset="0"/>
                <a:ea typeface="monospace" pitchFamily="34" charset="-122"/>
                <a:cs typeface="monospace" pitchFamily="34" charset="-120"/>
              </a:rPr>
              <a:t>04 / INTERVENE</a:t>
            </a:r>
            <a:endParaRPr lang="en-US" sz="750" dirty="0"/>
          </a:p>
        </p:txBody>
      </p:sp>
      <p:sp>
        <p:nvSpPr>
          <p:cNvPr id="26" name="Text 22"/>
          <p:cNvSpPr/>
          <p:nvPr/>
        </p:nvSpPr>
        <p:spPr>
          <a:xfrm>
            <a:off x="6865144" y="2832497"/>
            <a:ext cx="1757363" cy="178594"/>
          </a:xfrm>
          <a:prstGeom prst="rect">
            <a:avLst/>
          </a:prstGeom>
          <a:noFill/>
          <a:ln/>
        </p:spPr>
        <p:txBody>
          <a:bodyPr wrap="square" lIns="0" tIns="0" rIns="0" bIns="0" rtlCol="0" anchor="t">
            <a:spAutoFit/>
          </a:bodyPr>
          <a:lstStyle/>
          <a:p>
            <a:pPr algn="l" indent="0" marL="0">
              <a:buNone/>
            </a:pPr>
            <a:r>
              <a:rPr lang="en-US" sz="1100" b="1" dirty="0">
                <a:solidFill>
                  <a:srgbClr val="2ECA7F"/>
                </a:solidFill>
                <a:latin typeface="Arial" pitchFamily="34" charset="0"/>
                <a:ea typeface="Arial" pitchFamily="34" charset="-122"/>
                <a:cs typeface="Arial" pitchFamily="34" charset="-120"/>
              </a:rPr>
              <a:t>Protect</a:t>
            </a:r>
            <a:endParaRPr lang="en-US" sz="1100" dirty="0"/>
          </a:p>
        </p:txBody>
      </p:sp>
      <p:sp>
        <p:nvSpPr>
          <p:cNvPr id="27" name="Text 23"/>
          <p:cNvSpPr/>
          <p:nvPr/>
        </p:nvSpPr>
        <p:spPr>
          <a:xfrm>
            <a:off x="6865144" y="3082528"/>
            <a:ext cx="1757363"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A19D98"/>
                </a:solidFill>
                <a:latin typeface="Arial" pitchFamily="34" charset="0"/>
                <a:ea typeface="Arial" pitchFamily="34" charset="-122"/>
                <a:cs typeface="Arial" pitchFamily="34" charset="-120"/>
              </a:rPr>
              <a:t>Safety guard checks the </a:t>
            </a:r>
            <a:r>
              <a:rPr lang="en-US" sz="750" dirty="0">
                <a:solidFill>
                  <a:srgbClr val="A19D98"/>
                </a:solidFill>
                <a:latin typeface="Arial" pitchFamily="34" charset="0"/>
                <a:ea typeface="Arial" pitchFamily="34" charset="-122"/>
                <a:cs typeface="Arial" pitchFamily="34" charset="-120"/>
              </a:rPr>
              <a:t>recommendation. High-risk or uncertain </a:t>
            </a:r>
            <a:r>
              <a:rPr lang="en-US" sz="750" dirty="0">
                <a:solidFill>
                  <a:srgbClr val="A19D98"/>
                </a:solidFill>
                <a:latin typeface="Arial" pitchFamily="34" charset="0"/>
                <a:ea typeface="Arial" pitchFamily="34" charset="-122"/>
                <a:cs typeface="Arial" pitchFamily="34" charset="-120"/>
              </a:rPr>
              <a:t>cases route to </a:t>
            </a:r>
            <a:r>
              <a:rPr lang="en-US" sz="750" dirty="0">
                <a:solidFill>
                  <a:srgbClr val="FFB84D"/>
                </a:solidFill>
                <a:latin typeface="Arial" pitchFamily="34" charset="0"/>
                <a:ea typeface="Arial" pitchFamily="34" charset="-122"/>
                <a:cs typeface="Arial" pitchFamily="34" charset="-120"/>
              </a:rPr>
              <a:t>human review</a:t>
            </a:r>
            <a:r>
              <a:rPr lang="en-US" sz="750" dirty="0">
                <a:solidFill>
                  <a:srgbClr val="A19D98"/>
                </a:solidFill>
                <a:latin typeface="Arial" pitchFamily="34" charset="0"/>
                <a:ea typeface="Arial" pitchFamily="34" charset="-122"/>
                <a:cs typeface="Arial" pitchFamily="34" charset="-120"/>
              </a:rPr>
              <a:t>.</a:t>
            </a:r>
            <a:endParaRPr lang="en-US" sz="750" dirty="0"/>
          </a:p>
        </p:txBody>
      </p:sp>
      <p:sp>
        <p:nvSpPr>
          <p:cNvPr id="28" name="Shape 24"/>
          <p:cNvSpPr/>
          <p:nvPr/>
        </p:nvSpPr>
        <p:spPr>
          <a:xfrm>
            <a:off x="342900" y="4579144"/>
            <a:ext cx="8458200" cy="221456"/>
          </a:xfrm>
          <a:prstGeom prst="rect">
            <a:avLst/>
          </a:prstGeom>
          <a:solidFill>
            <a:srgbClr val="000000">
              <a:alpha val="0"/>
            </a:srgbClr>
          </a:solidFill>
          <a:ln/>
        </p:spPr>
      </p:sp>
      <p:sp>
        <p:nvSpPr>
          <p:cNvPr id="29" name="Shape 25"/>
          <p:cNvSpPr/>
          <p:nvPr/>
        </p:nvSpPr>
        <p:spPr>
          <a:xfrm>
            <a:off x="342900" y="4793456"/>
            <a:ext cx="8458200" cy="7144"/>
          </a:xfrm>
          <a:prstGeom prst="rect">
            <a:avLst/>
          </a:prstGeom>
          <a:solidFill>
            <a:srgbClr val="2A2A2C"/>
          </a:solidFill>
          <a:ln/>
        </p:spPr>
      </p:sp>
      <p:sp>
        <p:nvSpPr>
          <p:cNvPr id="30" name="Text 26"/>
          <p:cNvSpPr/>
          <p:nvPr/>
        </p:nvSpPr>
        <p:spPr>
          <a:xfrm>
            <a:off x="342900" y="4586288"/>
            <a:ext cx="2730364" cy="128588"/>
          </a:xfrm>
          <a:prstGeom prst="rect">
            <a:avLst/>
          </a:prstGeom>
          <a:noFill/>
          <a:ln/>
        </p:spPr>
        <p:txBody>
          <a:bodyPr wrap="square" lIns="0" tIns="0" rIns="0" bIns="0" rtlCol="0" anchor="t">
            <a:spAutoFit/>
          </a:bodyPr>
          <a:lstStyle/>
          <a:p>
            <a:pPr algn="l" indent="0" marL="0">
              <a:buNone/>
            </a:pPr>
            <a:r>
              <a:rPr lang="en-US" sz="650" dirty="0">
                <a:solidFill>
                  <a:srgbClr val="A19D98"/>
                </a:solidFill>
                <a:latin typeface="monospace" pitchFamily="34" charset="0"/>
                <a:ea typeface="monospace" pitchFamily="34" charset="-122"/>
                <a:cs typeface="monospace" pitchFamily="34" charset="-120"/>
              </a:rPr>
              <a:t>FIVE BOUNDED MODEL CALLS · ZERO FINANCIAL ACTIONS</a:t>
            </a:r>
            <a:endParaRPr lang="en-US" sz="650" dirty="0"/>
          </a:p>
        </p:txBody>
      </p:sp>
      <p:sp>
        <p:nvSpPr>
          <p:cNvPr id="31" name="Text 27"/>
          <p:cNvSpPr/>
          <p:nvPr/>
        </p:nvSpPr>
        <p:spPr>
          <a:xfrm>
            <a:off x="7575221" y="4586288"/>
            <a:ext cx="1225879" cy="128588"/>
          </a:xfrm>
          <a:prstGeom prst="rect">
            <a:avLst/>
          </a:prstGeom>
          <a:noFill/>
          <a:ln/>
        </p:spPr>
        <p:txBody>
          <a:bodyPr wrap="none" lIns="0" tIns="0" rIns="0" bIns="0" rtlCol="0" anchor="t">
            <a:spAutoFit/>
          </a:bodyPr>
          <a:lstStyle/>
          <a:p>
            <a:pPr algn="l" indent="0" marL="0">
              <a:buNone/>
            </a:pPr>
            <a:r>
              <a:rPr lang="en-US" sz="650" dirty="0">
                <a:solidFill>
                  <a:srgbClr val="A19D98"/>
                </a:solidFill>
                <a:latin typeface="monospace" pitchFamily="34" charset="0"/>
                <a:ea typeface="monospace" pitchFamily="34" charset="-122"/>
                <a:cs typeface="monospace" pitchFamily="34" charset="-120"/>
              </a:rPr>
              <a:t>EXPLAINABLE BY DEFAULT</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560240"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[SYS-03] / DIFFERENTIATION</a:t>
            </a:r>
            <a:endParaRPr lang="en-US" sz="750" dirty="0"/>
          </a:p>
        </p:txBody>
      </p:sp>
      <p:sp>
        <p:nvSpPr>
          <p:cNvPr id="7" name="Text 3"/>
          <p:cNvSpPr/>
          <p:nvPr/>
        </p:nvSpPr>
        <p:spPr>
          <a:xfrm>
            <a:off x="7780939" y="428625"/>
            <a:ext cx="1020161"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WHY THIS, WHY NOW</a:t>
            </a:r>
            <a:endParaRPr lang="en-US" sz="750" dirty="0"/>
          </a:p>
        </p:txBody>
      </p:sp>
      <p:sp>
        <p:nvSpPr>
          <p:cNvPr id="8" name="Text 4"/>
          <p:cNvSpPr/>
          <p:nvPr/>
        </p:nvSpPr>
        <p:spPr>
          <a:xfrm>
            <a:off x="342900" y="864394"/>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A decision-support layer, not another chatbot</a:t>
            </a:r>
            <a:endParaRPr lang="en-US" sz="2300" dirty="0"/>
          </a:p>
        </p:txBody>
      </p:sp>
      <p:sp>
        <p:nvSpPr>
          <p:cNvPr id="9" name="Text 5"/>
          <p:cNvSpPr/>
          <p:nvPr/>
        </p:nvSpPr>
        <p:spPr>
          <a:xfrm>
            <a:off x="342900" y="1289447"/>
            <a:ext cx="8458200" cy="135731"/>
          </a:xfrm>
          <a:prstGeom prst="rect">
            <a:avLst/>
          </a:prstGeom>
          <a:noFill/>
          <a:ln/>
        </p:spPr>
        <p:txBody>
          <a:bodyPr wrap="square" lIns="0" tIns="0" rIns="0" bIns="0" rtlCol="0" anchor="t">
            <a:spAutoFit/>
          </a:bodyPr>
          <a:lstStyle/>
          <a:p>
            <a:pPr algn="l" indent="0" marL="0">
              <a:buNone/>
            </a:pPr>
            <a:r>
              <a:rPr lang="en-US" sz="750" dirty="0">
                <a:solidFill>
                  <a:srgbClr val="2ECA7F"/>
                </a:solidFill>
                <a:latin typeface="monospace" pitchFamily="34" charset="0"/>
                <a:ea typeface="monospace" pitchFamily="34" charset="-122"/>
                <a:cs typeface="monospace" pitchFamily="34" charset="-120"/>
              </a:rPr>
              <a:t>Use generative reasoning where it creates leverage. Use deterministic software where safety matters.</a:t>
            </a:r>
            <a:endParaRPr lang="en-US" sz="750" dirty="0"/>
          </a:p>
        </p:txBody>
      </p:sp>
      <p:sp>
        <p:nvSpPr>
          <p:cNvPr id="10" name="Shape 6"/>
          <p:cNvSpPr/>
          <p:nvPr/>
        </p:nvSpPr>
        <p:spPr>
          <a:xfrm>
            <a:off x="342900" y="1653778"/>
            <a:ext cx="8458200" cy="2753916"/>
          </a:xfrm>
          <a:prstGeom prst="rect">
            <a:avLst/>
          </a:prstGeom>
          <a:solidFill>
            <a:srgbClr val="2A2A2C"/>
          </a:solidFill>
          <a:ln w="9144">
            <a:solidFill>
              <a:srgbClr val="2A2A2C"/>
            </a:solidFill>
            <a:prstDash val="solid"/>
          </a:ln>
        </p:spPr>
      </p:sp>
      <p:sp>
        <p:nvSpPr>
          <p:cNvPr id="11" name="Shape 7"/>
          <p:cNvSpPr/>
          <p:nvPr/>
        </p:nvSpPr>
        <p:spPr>
          <a:xfrm>
            <a:off x="342900" y="1653778"/>
            <a:ext cx="4225528" cy="1295698"/>
          </a:xfrm>
          <a:prstGeom prst="rect">
            <a:avLst/>
          </a:prstGeom>
          <a:solidFill>
            <a:srgbClr val="1A1A1D"/>
          </a:solidFill>
          <a:ln/>
        </p:spPr>
      </p:sp>
      <p:sp>
        <p:nvSpPr>
          <p:cNvPr id="12" name="Text 8"/>
          <p:cNvSpPr/>
          <p:nvPr/>
        </p:nvSpPr>
        <p:spPr>
          <a:xfrm>
            <a:off x="514350" y="1825228"/>
            <a:ext cx="3882628" cy="117872"/>
          </a:xfrm>
          <a:prstGeom prst="rect">
            <a:avLst/>
          </a:prstGeom>
          <a:noFill/>
          <a:ln/>
        </p:spPr>
        <p:txBody>
          <a:bodyPr wrap="square" lIns="0" tIns="0" rIns="0" bIns="0" rtlCol="0" anchor="t">
            <a:spAutoFit/>
          </a:bodyPr>
          <a:lstStyle/>
          <a:p>
            <a:pPr algn="l" indent="0" marL="0">
              <a:buNone/>
            </a:pPr>
            <a:r>
              <a:rPr lang="en-US" sz="600" dirty="0">
                <a:solidFill>
                  <a:srgbClr val="FFB84D"/>
                </a:solidFill>
                <a:latin typeface="monospace" pitchFamily="34" charset="0"/>
                <a:ea typeface="monospace" pitchFamily="34" charset="-122"/>
                <a:cs typeface="monospace" pitchFamily="34" charset="-120"/>
              </a:rPr>
              <a:t>01 / EVIDENCE-FIRST</a:t>
            </a:r>
            <a:endParaRPr lang="en-US" sz="600" dirty="0"/>
          </a:p>
        </p:txBody>
      </p:sp>
      <p:sp>
        <p:nvSpPr>
          <p:cNvPr id="13" name="Text 9"/>
          <p:cNvSpPr/>
          <p:nvPr/>
        </p:nvSpPr>
        <p:spPr>
          <a:xfrm>
            <a:off x="514350" y="2043113"/>
            <a:ext cx="3882628"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Every claim has a trail</a:t>
            </a:r>
            <a:endParaRPr lang="en-US" sz="1000" dirty="0"/>
          </a:p>
        </p:txBody>
      </p:sp>
      <p:sp>
        <p:nvSpPr>
          <p:cNvPr id="14" name="Text 10"/>
          <p:cNvSpPr/>
          <p:nvPr/>
        </p:nvSpPr>
        <p:spPr>
          <a:xfrm>
            <a:off x="514350" y="2303859"/>
            <a:ext cx="3882628" cy="155377"/>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A19D98"/>
                </a:solidFill>
                <a:latin typeface="Arial" pitchFamily="34" charset="0"/>
                <a:ea typeface="Arial" pitchFamily="34" charset="-122"/>
                <a:cs typeface="Arial" pitchFamily="34" charset="-120"/>
              </a:rPr>
              <a:t>Risk rationales point to extracted evidence IDs, not an unexplained score.</a:t>
            </a:r>
            <a:endParaRPr lang="en-US" sz="800" dirty="0"/>
          </a:p>
        </p:txBody>
      </p:sp>
      <p:sp>
        <p:nvSpPr>
          <p:cNvPr id="15" name="Shape 11"/>
          <p:cNvSpPr/>
          <p:nvPr/>
        </p:nvSpPr>
        <p:spPr>
          <a:xfrm>
            <a:off x="4575572" y="1653778"/>
            <a:ext cx="4225528" cy="1295698"/>
          </a:xfrm>
          <a:prstGeom prst="rect">
            <a:avLst/>
          </a:prstGeom>
          <a:solidFill>
            <a:srgbClr val="1A1A1D"/>
          </a:solidFill>
          <a:ln/>
        </p:spPr>
      </p:sp>
      <p:sp>
        <p:nvSpPr>
          <p:cNvPr id="16" name="Text 12"/>
          <p:cNvSpPr/>
          <p:nvPr/>
        </p:nvSpPr>
        <p:spPr>
          <a:xfrm>
            <a:off x="4747022" y="1825228"/>
            <a:ext cx="3882628" cy="117872"/>
          </a:xfrm>
          <a:prstGeom prst="rect">
            <a:avLst/>
          </a:prstGeom>
          <a:noFill/>
          <a:ln/>
        </p:spPr>
        <p:txBody>
          <a:bodyPr wrap="square" lIns="0" tIns="0" rIns="0" bIns="0" rtlCol="0" anchor="t">
            <a:spAutoFit/>
          </a:bodyPr>
          <a:lstStyle/>
          <a:p>
            <a:pPr algn="l" indent="0" marL="0">
              <a:buNone/>
            </a:pPr>
            <a:r>
              <a:rPr lang="en-US" sz="600" dirty="0">
                <a:solidFill>
                  <a:srgbClr val="FFB84D"/>
                </a:solidFill>
                <a:latin typeface="monospace" pitchFamily="34" charset="0"/>
                <a:ea typeface="monospace" pitchFamily="34" charset="-122"/>
                <a:cs typeface="monospace" pitchFamily="34" charset="-120"/>
              </a:rPr>
              <a:t>02 / POLICY-GROUNDED</a:t>
            </a:r>
            <a:endParaRPr lang="en-US" sz="600" dirty="0"/>
          </a:p>
        </p:txBody>
      </p:sp>
      <p:sp>
        <p:nvSpPr>
          <p:cNvPr id="17" name="Text 13"/>
          <p:cNvSpPr/>
          <p:nvPr/>
        </p:nvSpPr>
        <p:spPr>
          <a:xfrm>
            <a:off x="4747022" y="2043113"/>
            <a:ext cx="3882628"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Advice has a source</a:t>
            </a:r>
            <a:endParaRPr lang="en-US" sz="1000" dirty="0"/>
          </a:p>
        </p:txBody>
      </p:sp>
      <p:sp>
        <p:nvSpPr>
          <p:cNvPr id="18" name="Text 14"/>
          <p:cNvSpPr/>
          <p:nvPr/>
        </p:nvSpPr>
        <p:spPr>
          <a:xfrm>
            <a:off x="4747022" y="2303859"/>
            <a:ext cx="3882628" cy="155377"/>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A19D98"/>
                </a:solidFill>
                <a:latin typeface="Arial" pitchFamily="34" charset="0"/>
                <a:ea typeface="Arial" pitchFamily="34" charset="-122"/>
                <a:cs typeface="Arial" pitchFamily="34" charset="-120"/>
              </a:rPr>
              <a:t>Recommendations are tied to versioned safety policies and prohibited actions.</a:t>
            </a:r>
            <a:endParaRPr lang="en-US" sz="800" dirty="0"/>
          </a:p>
        </p:txBody>
      </p:sp>
      <p:sp>
        <p:nvSpPr>
          <p:cNvPr id="19" name="Shape 15"/>
          <p:cNvSpPr/>
          <p:nvPr/>
        </p:nvSpPr>
        <p:spPr>
          <a:xfrm>
            <a:off x="342900" y="2956620"/>
            <a:ext cx="4225528" cy="1451074"/>
          </a:xfrm>
          <a:prstGeom prst="rect">
            <a:avLst/>
          </a:prstGeom>
          <a:solidFill>
            <a:srgbClr val="1A1A1D"/>
          </a:solidFill>
          <a:ln/>
        </p:spPr>
      </p:sp>
      <p:sp>
        <p:nvSpPr>
          <p:cNvPr id="20" name="Text 16"/>
          <p:cNvSpPr/>
          <p:nvPr/>
        </p:nvSpPr>
        <p:spPr>
          <a:xfrm>
            <a:off x="514350" y="3128070"/>
            <a:ext cx="3882628" cy="117872"/>
          </a:xfrm>
          <a:prstGeom prst="rect">
            <a:avLst/>
          </a:prstGeom>
          <a:noFill/>
          <a:ln/>
        </p:spPr>
        <p:txBody>
          <a:bodyPr wrap="square" lIns="0" tIns="0" rIns="0" bIns="0" rtlCol="0" anchor="t">
            <a:spAutoFit/>
          </a:bodyPr>
          <a:lstStyle/>
          <a:p>
            <a:pPr algn="l" indent="0" marL="0">
              <a:buNone/>
            </a:pPr>
            <a:r>
              <a:rPr lang="en-US" sz="600" dirty="0">
                <a:solidFill>
                  <a:srgbClr val="FFB84D"/>
                </a:solidFill>
                <a:latin typeface="monospace" pitchFamily="34" charset="0"/>
                <a:ea typeface="monospace" pitchFamily="34" charset="-122"/>
                <a:cs typeface="monospace" pitchFamily="34" charset="-120"/>
              </a:rPr>
              <a:t>03 / SAFETY-INVARIANT</a:t>
            </a:r>
            <a:endParaRPr lang="en-US" sz="600" dirty="0"/>
          </a:p>
        </p:txBody>
      </p:sp>
      <p:sp>
        <p:nvSpPr>
          <p:cNvPr id="21" name="Text 17"/>
          <p:cNvSpPr/>
          <p:nvPr/>
        </p:nvSpPr>
        <p:spPr>
          <a:xfrm>
            <a:off x="514350" y="3345954"/>
            <a:ext cx="3882628"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Model output is not the last word</a:t>
            </a:r>
            <a:endParaRPr lang="en-US" sz="1000" dirty="0"/>
          </a:p>
        </p:txBody>
      </p:sp>
      <p:sp>
        <p:nvSpPr>
          <p:cNvPr id="22" name="Text 18"/>
          <p:cNvSpPr/>
          <p:nvPr/>
        </p:nvSpPr>
        <p:spPr>
          <a:xfrm>
            <a:off x="514350" y="3606701"/>
            <a:ext cx="3882628" cy="310753"/>
          </a:xfrm>
          <a:prstGeom prst="rect">
            <a:avLst/>
          </a:prstGeom>
          <a:noFill/>
          <a:ln/>
        </p:spPr>
        <p:txBody>
          <a:bodyPr wrap="square" lIns="0" tIns="0" rIns="0" bIns="0" rtlCol="0" anchor="t">
            <a:spAutoFit/>
          </a:bodyPr>
          <a:lstStyle/>
          <a:p>
            <a:pPr algn="l" indent="0" marL="0">
              <a:lnSpc>
                <a:spcPct val="116000"/>
              </a:lnSpc>
              <a:buNone/>
            </a:pPr>
            <a:r>
              <a:rPr lang="en-US" sz="800" dirty="0">
                <a:solidFill>
                  <a:srgbClr val="A19D98"/>
                </a:solidFill>
                <a:latin typeface="Arial" pitchFamily="34" charset="0"/>
                <a:ea typeface="Arial" pitchFamily="34" charset="-122"/>
                <a:cs typeface="Arial" pitchFamily="34" charset="-120"/>
              </a:rPr>
              <a:t>A Python guard can override unsafe guidance involving OTPs, links, and remote access.</a:t>
            </a:r>
            <a:endParaRPr lang="en-US" sz="800" dirty="0"/>
          </a:p>
        </p:txBody>
      </p:sp>
      <p:sp>
        <p:nvSpPr>
          <p:cNvPr id="23" name="Shape 19"/>
          <p:cNvSpPr/>
          <p:nvPr/>
        </p:nvSpPr>
        <p:spPr>
          <a:xfrm>
            <a:off x="4575572" y="2956620"/>
            <a:ext cx="4225528" cy="1451074"/>
          </a:xfrm>
          <a:prstGeom prst="rect">
            <a:avLst/>
          </a:prstGeom>
          <a:solidFill>
            <a:srgbClr val="1A1A1D"/>
          </a:solidFill>
          <a:ln/>
        </p:spPr>
      </p:sp>
      <p:sp>
        <p:nvSpPr>
          <p:cNvPr id="24" name="Text 20"/>
          <p:cNvSpPr/>
          <p:nvPr/>
        </p:nvSpPr>
        <p:spPr>
          <a:xfrm>
            <a:off x="4747022" y="3128070"/>
            <a:ext cx="3882628" cy="117872"/>
          </a:xfrm>
          <a:prstGeom prst="rect">
            <a:avLst/>
          </a:prstGeom>
          <a:noFill/>
          <a:ln/>
        </p:spPr>
        <p:txBody>
          <a:bodyPr wrap="square" lIns="0" tIns="0" rIns="0" bIns="0" rtlCol="0" anchor="t">
            <a:spAutoFit/>
          </a:bodyPr>
          <a:lstStyle/>
          <a:p>
            <a:pPr algn="l" indent="0" marL="0">
              <a:buNone/>
            </a:pPr>
            <a:r>
              <a:rPr lang="en-US" sz="600" dirty="0">
                <a:solidFill>
                  <a:srgbClr val="FFB84D"/>
                </a:solidFill>
                <a:latin typeface="monospace" pitchFamily="34" charset="0"/>
                <a:ea typeface="monospace" pitchFamily="34" charset="-122"/>
                <a:cs typeface="monospace" pitchFamily="34" charset="-120"/>
              </a:rPr>
              <a:t>04 / HUMAN-BOUND</a:t>
            </a:r>
            <a:endParaRPr lang="en-US" sz="600" dirty="0"/>
          </a:p>
        </p:txBody>
      </p:sp>
      <p:sp>
        <p:nvSpPr>
          <p:cNvPr id="25" name="Text 21"/>
          <p:cNvSpPr/>
          <p:nvPr/>
        </p:nvSpPr>
        <p:spPr>
          <a:xfrm>
            <a:off x="4747022" y="3345954"/>
            <a:ext cx="3882628"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Know when to stop</a:t>
            </a:r>
            <a:endParaRPr lang="en-US" sz="1000" dirty="0"/>
          </a:p>
        </p:txBody>
      </p:sp>
      <p:sp>
        <p:nvSpPr>
          <p:cNvPr id="26" name="Text 22"/>
          <p:cNvSpPr/>
          <p:nvPr/>
        </p:nvSpPr>
        <p:spPr>
          <a:xfrm>
            <a:off x="4747022" y="3606701"/>
            <a:ext cx="3882628" cy="155377"/>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A19D98"/>
                </a:solidFill>
                <a:latin typeface="Arial" pitchFamily="34" charset="0"/>
                <a:ea typeface="Arial" pitchFamily="34" charset="-122"/>
                <a:cs typeface="Arial" pitchFamily="34" charset="-120"/>
              </a:rPr>
              <a:t>High-risk, uncertain, or unsupported cases are explicitly routed for review.</a:t>
            </a:r>
            <a:endParaRPr lang="en-US" sz="800" dirty="0"/>
          </a:p>
        </p:txBody>
      </p:sp>
      <p:sp>
        <p:nvSpPr>
          <p:cNvPr id="27" name="Shape 23"/>
          <p:cNvSpPr/>
          <p:nvPr/>
        </p:nvSpPr>
        <p:spPr>
          <a:xfrm>
            <a:off x="342900" y="4579144"/>
            <a:ext cx="8458200" cy="221456"/>
          </a:xfrm>
          <a:prstGeom prst="rect">
            <a:avLst/>
          </a:prstGeom>
          <a:solidFill>
            <a:srgbClr val="000000">
              <a:alpha val="0"/>
            </a:srgbClr>
          </a:solidFill>
          <a:ln/>
        </p:spPr>
      </p:sp>
      <p:sp>
        <p:nvSpPr>
          <p:cNvPr id="28" name="Shape 24"/>
          <p:cNvSpPr/>
          <p:nvPr/>
        </p:nvSpPr>
        <p:spPr>
          <a:xfrm>
            <a:off x="342900" y="4793456"/>
            <a:ext cx="8458200" cy="7144"/>
          </a:xfrm>
          <a:prstGeom prst="rect">
            <a:avLst/>
          </a:prstGeom>
          <a:solidFill>
            <a:srgbClr val="2A2A2C"/>
          </a:solidFill>
          <a:ln/>
        </p:spPr>
      </p:sp>
      <p:sp>
        <p:nvSpPr>
          <p:cNvPr id="29" name="Text 25"/>
          <p:cNvSpPr/>
          <p:nvPr/>
        </p:nvSpPr>
        <p:spPr>
          <a:xfrm>
            <a:off x="342900" y="4579144"/>
            <a:ext cx="8458200" cy="221456"/>
          </a:xfrm>
          <a:prstGeom prst="rect">
            <a:avLst/>
          </a:prstGeom>
          <a:noFill/>
          <a:ln/>
        </p:spPr>
        <p:txBody>
          <a:bodyPr wrap="square" lIns="0" tIns="0" rIns="0" bIns="102108" rtlCol="0" anchor="t">
            <a:spAutoFit/>
          </a:bodyPr>
          <a:lstStyle/>
          <a:p>
            <a:pPr algn="l" indent="0" marL="0">
              <a:buNone/>
            </a:pPr>
            <a:r>
              <a:rPr lang="en-US" sz="650" dirty="0">
                <a:solidFill>
                  <a:srgbClr val="A19D98"/>
                </a:solidFill>
                <a:latin typeface="monospace" pitchFamily="34" charset="0"/>
                <a:ea typeface="monospace" pitchFamily="34" charset="-122"/>
                <a:cs typeface="monospace" pitchFamily="34" charset="-120"/>
              </a:rPr>
              <a:t>THE THESIS // TRUST IS WON BY SHOWING THE USER WHAT TO DO — AND WHAT NOT TO DO.</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980270"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[SYS-04] / TECHNICAL ARCHITECTURE</a:t>
            </a:r>
            <a:endParaRPr lang="en-US" sz="750" dirty="0"/>
          </a:p>
        </p:txBody>
      </p:sp>
      <p:sp>
        <p:nvSpPr>
          <p:cNvPr id="7" name="Text 3"/>
          <p:cNvSpPr/>
          <p:nvPr/>
        </p:nvSpPr>
        <p:spPr>
          <a:xfrm>
            <a:off x="7540898" y="428625"/>
            <a:ext cx="1260202"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VERTEX AI + CLOUD RUN</a:t>
            </a:r>
            <a:endParaRPr lang="en-US" sz="750" dirty="0"/>
          </a:p>
        </p:txBody>
      </p:sp>
      <p:sp>
        <p:nvSpPr>
          <p:cNvPr id="8" name="Text 4"/>
          <p:cNvSpPr/>
          <p:nvPr/>
        </p:nvSpPr>
        <p:spPr>
          <a:xfrm>
            <a:off x="342900" y="807244"/>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Bounded agents. Google Cloud backbone.</a:t>
            </a:r>
            <a:endParaRPr lang="en-US" sz="2300" dirty="0"/>
          </a:p>
        </p:txBody>
      </p:sp>
      <p:sp>
        <p:nvSpPr>
          <p:cNvPr id="9" name="Text 5"/>
          <p:cNvSpPr/>
          <p:nvPr/>
        </p:nvSpPr>
        <p:spPr>
          <a:xfrm>
            <a:off x="342900" y="1225153"/>
            <a:ext cx="8458200" cy="121444"/>
          </a:xfrm>
          <a:prstGeom prst="rect">
            <a:avLst/>
          </a:prstGeom>
          <a:noFill/>
          <a:ln/>
        </p:spPr>
        <p:txBody>
          <a:bodyPr wrap="square" lIns="0" tIns="0" rIns="0" bIns="0" rtlCol="0" anchor="t">
            <a:spAutoFit/>
          </a:bodyPr>
          <a:lstStyle/>
          <a:p>
            <a:pPr algn="l" indent="0" marL="0">
              <a:buNone/>
            </a:pPr>
            <a:r>
              <a:rPr lang="en-US" sz="800" dirty="0">
                <a:solidFill>
                  <a:srgbClr val="A19D98"/>
                </a:solidFill>
                <a:latin typeface="Arial" pitchFamily="34" charset="0"/>
                <a:ea typeface="Arial" pitchFamily="34" charset="-122"/>
                <a:cs typeface="Arial" pitchFamily="34" charset="-120"/>
              </a:rPr>
              <a:t>A server-side pipeline with explicit contracts, parallel reasoning, and a deterministic safety boundary.</a:t>
            </a:r>
            <a:endParaRPr lang="en-US" sz="800" dirty="0"/>
          </a:p>
        </p:txBody>
      </p:sp>
      <p:sp>
        <p:nvSpPr>
          <p:cNvPr id="10" name="Shape 6"/>
          <p:cNvSpPr/>
          <p:nvPr/>
        </p:nvSpPr>
        <p:spPr>
          <a:xfrm>
            <a:off x="313544" y="2630686"/>
            <a:ext cx="1014413" cy="782241"/>
          </a:xfrm>
          <a:prstGeom prst="rect">
            <a:avLst/>
          </a:prstGeom>
          <a:solidFill>
            <a:srgbClr val="1A1A1D"/>
          </a:solidFill>
          <a:ln w="9144">
            <a:solidFill>
              <a:srgbClr val="2A2A2C"/>
            </a:solidFill>
            <a:prstDash val="solid"/>
          </a:ln>
        </p:spPr>
      </p:sp>
      <p:sp>
        <p:nvSpPr>
          <p:cNvPr id="11" name="Text 7"/>
          <p:cNvSpPr/>
          <p:nvPr/>
        </p:nvSpPr>
        <p:spPr>
          <a:xfrm>
            <a:off x="413556" y="2737842"/>
            <a:ext cx="814388"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CLIENT</a:t>
            </a:r>
            <a:endParaRPr lang="en-US" sz="550" dirty="0"/>
          </a:p>
        </p:txBody>
      </p:sp>
      <p:sp>
        <p:nvSpPr>
          <p:cNvPr id="12" name="Text 8"/>
          <p:cNvSpPr/>
          <p:nvPr/>
        </p:nvSpPr>
        <p:spPr>
          <a:xfrm>
            <a:off x="413556" y="2952155"/>
            <a:ext cx="814388" cy="132159"/>
          </a:xfrm>
          <a:prstGeom prst="rect">
            <a:avLst/>
          </a:prstGeom>
          <a:noFill/>
          <a:ln/>
        </p:spPr>
        <p:txBody>
          <a:bodyPr wrap="non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Next.js</a:t>
            </a:r>
            <a:endParaRPr lang="en-US" sz="800" dirty="0"/>
          </a:p>
        </p:txBody>
      </p:sp>
      <p:sp>
        <p:nvSpPr>
          <p:cNvPr id="13" name="Text 9"/>
          <p:cNvSpPr/>
          <p:nvPr/>
        </p:nvSpPr>
        <p:spPr>
          <a:xfrm>
            <a:off x="413556" y="3120033"/>
            <a:ext cx="814388" cy="185738"/>
          </a:xfrm>
          <a:prstGeom prst="rect">
            <a:avLst/>
          </a:prstGeom>
          <a:noFill/>
          <a:ln/>
        </p:spPr>
        <p:txBody>
          <a:bodyPr wrap="none" lIns="0" tIns="0" rIns="0" bIns="0" rtlCol="0" anchor="t">
            <a:spAutoFit/>
          </a:bodyPr>
          <a:lstStyle/>
          <a:p>
            <a:pPr algn="l" indent="0" marL="0">
              <a:buNone/>
            </a:pPr>
            <a:r>
              <a:rPr lang="en-US" sz="550" dirty="0">
                <a:solidFill>
                  <a:srgbClr val="A19D98"/>
                </a:solidFill>
                <a:latin typeface="Arial" pitchFamily="34" charset="0"/>
                <a:ea typeface="Arial" pitchFamily="34" charset="-122"/>
                <a:cs typeface="Arial" pitchFamily="34" charset="-120"/>
              </a:rPr>
              <a:t>Responsive judge dashboard</a:t>
            </a:r>
            <a:endParaRPr lang="en-US" sz="550" dirty="0"/>
          </a:p>
        </p:txBody>
      </p:sp>
      <p:sp>
        <p:nvSpPr>
          <p:cNvPr id="14" name="Text 10"/>
          <p:cNvSpPr/>
          <p:nvPr/>
        </p:nvSpPr>
        <p:spPr>
          <a:xfrm>
            <a:off x="1392250" y="2914650"/>
            <a:ext cx="94320" cy="214313"/>
          </a:xfrm>
          <a:prstGeom prst="rect">
            <a:avLst/>
          </a:prstGeom>
          <a:noFill/>
          <a:ln/>
        </p:spPr>
        <p:txBody>
          <a:bodyPr wrap="none" lIns="0" tIns="0" rIns="0" bIns="0" rtlCol="0" anchor="t">
            <a:spAutoFit/>
          </a:bodyPr>
          <a:lstStyle/>
          <a:p>
            <a:pPr algn="l" indent="0" marL="0">
              <a:buNone/>
            </a:pPr>
            <a:r>
              <a:rPr lang="en-US" sz="1150" dirty="0">
                <a:solidFill>
                  <a:srgbClr val="A19D98"/>
                </a:solidFill>
                <a:latin typeface="monospace" pitchFamily="34" charset="0"/>
                <a:ea typeface="monospace" pitchFamily="34" charset="-122"/>
                <a:cs typeface="monospace" pitchFamily="34" charset="-120"/>
              </a:rPr>
              <a:t>→</a:t>
            </a:r>
            <a:endParaRPr lang="en-US" sz="1150" dirty="0"/>
          </a:p>
        </p:txBody>
      </p:sp>
      <p:sp>
        <p:nvSpPr>
          <p:cNvPr id="15" name="Shape 11"/>
          <p:cNvSpPr/>
          <p:nvPr/>
        </p:nvSpPr>
        <p:spPr>
          <a:xfrm>
            <a:off x="1550863" y="2630686"/>
            <a:ext cx="1014413" cy="782241"/>
          </a:xfrm>
          <a:prstGeom prst="rect">
            <a:avLst/>
          </a:prstGeom>
          <a:solidFill>
            <a:srgbClr val="1A1A1D"/>
          </a:solidFill>
          <a:ln w="9144">
            <a:solidFill>
              <a:srgbClr val="2A2A2C"/>
            </a:solidFill>
            <a:prstDash val="solid"/>
          </a:ln>
        </p:spPr>
      </p:sp>
      <p:sp>
        <p:nvSpPr>
          <p:cNvPr id="16" name="Text 12"/>
          <p:cNvSpPr/>
          <p:nvPr/>
        </p:nvSpPr>
        <p:spPr>
          <a:xfrm>
            <a:off x="1650876" y="2737842"/>
            <a:ext cx="814388"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RUNTIME</a:t>
            </a:r>
            <a:endParaRPr lang="en-US" sz="550" dirty="0"/>
          </a:p>
        </p:txBody>
      </p:sp>
      <p:sp>
        <p:nvSpPr>
          <p:cNvPr id="17" name="Text 13"/>
          <p:cNvSpPr/>
          <p:nvPr/>
        </p:nvSpPr>
        <p:spPr>
          <a:xfrm>
            <a:off x="1650876" y="2952155"/>
            <a:ext cx="814388" cy="132159"/>
          </a:xfrm>
          <a:prstGeom prst="rect">
            <a:avLst/>
          </a:prstGeom>
          <a:noFill/>
          <a:ln/>
        </p:spPr>
        <p:txBody>
          <a:bodyPr wrap="non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FastAPI</a:t>
            </a:r>
            <a:endParaRPr lang="en-US" sz="800" dirty="0"/>
          </a:p>
        </p:txBody>
      </p:sp>
      <p:sp>
        <p:nvSpPr>
          <p:cNvPr id="18" name="Text 14"/>
          <p:cNvSpPr/>
          <p:nvPr/>
        </p:nvSpPr>
        <p:spPr>
          <a:xfrm>
            <a:off x="1650876" y="3120033"/>
            <a:ext cx="814388" cy="185738"/>
          </a:xfrm>
          <a:prstGeom prst="rect">
            <a:avLst/>
          </a:prstGeom>
          <a:noFill/>
          <a:ln/>
        </p:spPr>
        <p:txBody>
          <a:bodyPr wrap="none" lIns="0" tIns="0" rIns="0" bIns="0" rtlCol="0" anchor="t">
            <a:spAutoFit/>
          </a:bodyPr>
          <a:lstStyle/>
          <a:p>
            <a:pPr algn="l" indent="0" marL="0">
              <a:buNone/>
            </a:pPr>
            <a:r>
              <a:rPr lang="en-US" sz="550" dirty="0">
                <a:solidFill>
                  <a:srgbClr val="A19D98"/>
                </a:solidFill>
                <a:latin typeface="Arial" pitchFamily="34" charset="0"/>
                <a:ea typeface="Arial" pitchFamily="34" charset="-122"/>
                <a:cs typeface="Arial" pitchFamily="34" charset="-120"/>
              </a:rPr>
              <a:t>Cloud Run · 2 vCPU · 2 GiB</a:t>
            </a:r>
            <a:endParaRPr lang="en-US" sz="550" dirty="0"/>
          </a:p>
        </p:txBody>
      </p:sp>
      <p:sp>
        <p:nvSpPr>
          <p:cNvPr id="19" name="Text 15"/>
          <p:cNvSpPr/>
          <p:nvPr/>
        </p:nvSpPr>
        <p:spPr>
          <a:xfrm>
            <a:off x="2629570" y="2914650"/>
            <a:ext cx="94320" cy="214313"/>
          </a:xfrm>
          <a:prstGeom prst="rect">
            <a:avLst/>
          </a:prstGeom>
          <a:noFill/>
          <a:ln/>
        </p:spPr>
        <p:txBody>
          <a:bodyPr wrap="none" lIns="0" tIns="0" rIns="0" bIns="0" rtlCol="0" anchor="t">
            <a:spAutoFit/>
          </a:bodyPr>
          <a:lstStyle/>
          <a:p>
            <a:pPr algn="l" indent="0" marL="0">
              <a:buNone/>
            </a:pPr>
            <a:r>
              <a:rPr lang="en-US" sz="1150" dirty="0">
                <a:solidFill>
                  <a:srgbClr val="A19D98"/>
                </a:solidFill>
                <a:latin typeface="monospace" pitchFamily="34" charset="0"/>
                <a:ea typeface="monospace" pitchFamily="34" charset="-122"/>
                <a:cs typeface="monospace" pitchFamily="34" charset="-120"/>
              </a:rPr>
              <a:t>→</a:t>
            </a:r>
            <a:endParaRPr lang="en-US" sz="1150" dirty="0"/>
          </a:p>
        </p:txBody>
      </p:sp>
      <p:sp>
        <p:nvSpPr>
          <p:cNvPr id="20" name="Shape 16"/>
          <p:cNvSpPr/>
          <p:nvPr/>
        </p:nvSpPr>
        <p:spPr>
          <a:xfrm>
            <a:off x="2788183" y="2677120"/>
            <a:ext cx="1014413" cy="689372"/>
          </a:xfrm>
          <a:prstGeom prst="rect">
            <a:avLst/>
          </a:prstGeom>
          <a:solidFill>
            <a:srgbClr val="1A1A1D"/>
          </a:solidFill>
          <a:ln w="9144">
            <a:solidFill>
              <a:srgbClr val="2A2A2C"/>
            </a:solidFill>
            <a:prstDash val="solid"/>
          </a:ln>
        </p:spPr>
      </p:sp>
      <p:sp>
        <p:nvSpPr>
          <p:cNvPr id="21" name="Text 17"/>
          <p:cNvSpPr/>
          <p:nvPr/>
        </p:nvSpPr>
        <p:spPr>
          <a:xfrm>
            <a:off x="2888196" y="2784277"/>
            <a:ext cx="814388"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AGENT 1</a:t>
            </a:r>
            <a:endParaRPr lang="en-US" sz="550" dirty="0"/>
          </a:p>
        </p:txBody>
      </p:sp>
      <p:sp>
        <p:nvSpPr>
          <p:cNvPr id="22" name="Text 18"/>
          <p:cNvSpPr/>
          <p:nvPr/>
        </p:nvSpPr>
        <p:spPr>
          <a:xfrm>
            <a:off x="2888196" y="2998589"/>
            <a:ext cx="814388" cy="132159"/>
          </a:xfrm>
          <a:prstGeom prst="rect">
            <a:avLst/>
          </a:prstGeom>
          <a:noFill/>
          <a:ln/>
        </p:spPr>
        <p:txBody>
          <a:bodyPr wrap="non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Evidence</a:t>
            </a:r>
            <a:endParaRPr lang="en-US" sz="800" dirty="0"/>
          </a:p>
        </p:txBody>
      </p:sp>
      <p:sp>
        <p:nvSpPr>
          <p:cNvPr id="23" name="Text 19"/>
          <p:cNvSpPr/>
          <p:nvPr/>
        </p:nvSpPr>
        <p:spPr>
          <a:xfrm>
            <a:off x="2888196" y="3166467"/>
            <a:ext cx="814388" cy="92869"/>
          </a:xfrm>
          <a:prstGeom prst="rect">
            <a:avLst/>
          </a:prstGeom>
          <a:noFill/>
          <a:ln/>
        </p:spPr>
        <p:txBody>
          <a:bodyPr wrap="none" lIns="0" tIns="0" rIns="0" bIns="0" rtlCol="0" anchor="t">
            <a:spAutoFit/>
          </a:bodyPr>
          <a:lstStyle/>
          <a:p>
            <a:pPr algn="l" indent="0" marL="0">
              <a:buNone/>
            </a:pPr>
            <a:r>
              <a:rPr lang="en-US" sz="550" dirty="0">
                <a:solidFill>
                  <a:srgbClr val="A19D98"/>
                </a:solidFill>
                <a:latin typeface="Arial" pitchFamily="34" charset="0"/>
                <a:ea typeface="Arial" pitchFamily="34" charset="-122"/>
                <a:cs typeface="Arial" pitchFamily="34" charset="-120"/>
              </a:rPr>
              <a:t>Gemini multimodal</a:t>
            </a:r>
            <a:endParaRPr lang="en-US" sz="550" dirty="0"/>
          </a:p>
        </p:txBody>
      </p:sp>
      <p:sp>
        <p:nvSpPr>
          <p:cNvPr id="24" name="Text 20"/>
          <p:cNvSpPr/>
          <p:nvPr/>
        </p:nvSpPr>
        <p:spPr>
          <a:xfrm>
            <a:off x="3866890" y="2914650"/>
            <a:ext cx="94320" cy="214313"/>
          </a:xfrm>
          <a:prstGeom prst="rect">
            <a:avLst/>
          </a:prstGeom>
          <a:noFill/>
          <a:ln/>
        </p:spPr>
        <p:txBody>
          <a:bodyPr wrap="none" lIns="0" tIns="0" rIns="0" bIns="0" rtlCol="0" anchor="t">
            <a:spAutoFit/>
          </a:bodyPr>
          <a:lstStyle/>
          <a:p>
            <a:pPr algn="l" indent="0" marL="0">
              <a:buNone/>
            </a:pPr>
            <a:r>
              <a:rPr lang="en-US" sz="1150" dirty="0">
                <a:solidFill>
                  <a:srgbClr val="A19D98"/>
                </a:solidFill>
                <a:latin typeface="monospace" pitchFamily="34" charset="0"/>
                <a:ea typeface="monospace" pitchFamily="34" charset="-122"/>
                <a:cs typeface="monospace" pitchFamily="34" charset="-120"/>
              </a:rPr>
              <a:t>→</a:t>
            </a:r>
            <a:endParaRPr lang="en-US" sz="1150" dirty="0"/>
          </a:p>
        </p:txBody>
      </p:sp>
      <p:sp>
        <p:nvSpPr>
          <p:cNvPr id="25" name="Shape 21"/>
          <p:cNvSpPr/>
          <p:nvPr/>
        </p:nvSpPr>
        <p:spPr>
          <a:xfrm>
            <a:off x="4089797" y="2507456"/>
            <a:ext cx="964406" cy="485775"/>
          </a:xfrm>
          <a:prstGeom prst="rect">
            <a:avLst/>
          </a:prstGeom>
          <a:solidFill>
            <a:srgbClr val="1A1A1D"/>
          </a:solidFill>
          <a:ln w="9144">
            <a:solidFill>
              <a:srgbClr val="2A2A2C"/>
            </a:solidFill>
            <a:prstDash val="solid"/>
          </a:ln>
        </p:spPr>
      </p:sp>
      <p:sp>
        <p:nvSpPr>
          <p:cNvPr id="26" name="Text 22"/>
          <p:cNvSpPr/>
          <p:nvPr/>
        </p:nvSpPr>
        <p:spPr>
          <a:xfrm>
            <a:off x="4189809" y="2607469"/>
            <a:ext cx="764381"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AGENT 2</a:t>
            </a:r>
            <a:endParaRPr lang="en-US" sz="550" dirty="0"/>
          </a:p>
        </p:txBody>
      </p:sp>
      <p:sp>
        <p:nvSpPr>
          <p:cNvPr id="27" name="Text 23"/>
          <p:cNvSpPr/>
          <p:nvPr/>
        </p:nvSpPr>
        <p:spPr>
          <a:xfrm>
            <a:off x="4189809" y="2764631"/>
            <a:ext cx="764381" cy="110728"/>
          </a:xfrm>
          <a:prstGeom prst="rect">
            <a:avLst/>
          </a:prstGeom>
          <a:noFill/>
          <a:ln/>
        </p:spPr>
        <p:txBody>
          <a:bodyPr wrap="none" lIns="0" tIns="0" rIns="0" bIns="0" rtlCol="0" anchor="t">
            <a:spAutoFit/>
          </a:bodyPr>
          <a:lstStyle/>
          <a:p>
            <a:pPr algn="l" indent="0" marL="0">
              <a:buNone/>
            </a:pPr>
            <a:r>
              <a:rPr lang="en-US" sz="650" b="1" dirty="0">
                <a:solidFill>
                  <a:srgbClr val="F4F0EA"/>
                </a:solidFill>
                <a:latin typeface="Arial" pitchFamily="34" charset="0"/>
                <a:ea typeface="Arial" pitchFamily="34" charset="-122"/>
                <a:cs typeface="Arial" pitchFamily="34" charset="-120"/>
              </a:rPr>
              <a:t>Patterns</a:t>
            </a:r>
            <a:endParaRPr lang="en-US" sz="650" dirty="0"/>
          </a:p>
        </p:txBody>
      </p:sp>
      <p:sp>
        <p:nvSpPr>
          <p:cNvPr id="28" name="Shape 24"/>
          <p:cNvSpPr/>
          <p:nvPr/>
        </p:nvSpPr>
        <p:spPr>
          <a:xfrm>
            <a:off x="4089797" y="3050381"/>
            <a:ext cx="964406" cy="485775"/>
          </a:xfrm>
          <a:prstGeom prst="rect">
            <a:avLst/>
          </a:prstGeom>
          <a:solidFill>
            <a:srgbClr val="1A1A1D"/>
          </a:solidFill>
          <a:ln w="9144">
            <a:solidFill>
              <a:srgbClr val="2A2A2C"/>
            </a:solidFill>
            <a:prstDash val="solid"/>
          </a:ln>
        </p:spPr>
      </p:sp>
      <p:sp>
        <p:nvSpPr>
          <p:cNvPr id="29" name="Text 25"/>
          <p:cNvSpPr/>
          <p:nvPr/>
        </p:nvSpPr>
        <p:spPr>
          <a:xfrm>
            <a:off x="4189809" y="3150394"/>
            <a:ext cx="764381"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RETRIEVAL</a:t>
            </a:r>
            <a:endParaRPr lang="en-US" sz="550" dirty="0"/>
          </a:p>
        </p:txBody>
      </p:sp>
      <p:sp>
        <p:nvSpPr>
          <p:cNvPr id="30" name="Text 26"/>
          <p:cNvSpPr/>
          <p:nvPr/>
        </p:nvSpPr>
        <p:spPr>
          <a:xfrm>
            <a:off x="4189809" y="3307556"/>
            <a:ext cx="764381" cy="110728"/>
          </a:xfrm>
          <a:prstGeom prst="rect">
            <a:avLst/>
          </a:prstGeom>
          <a:noFill/>
          <a:ln/>
        </p:spPr>
        <p:txBody>
          <a:bodyPr wrap="none" lIns="0" tIns="0" rIns="0" bIns="0" rtlCol="0" anchor="t">
            <a:spAutoFit/>
          </a:bodyPr>
          <a:lstStyle/>
          <a:p>
            <a:pPr algn="l" indent="0" marL="0">
              <a:buNone/>
            </a:pPr>
            <a:r>
              <a:rPr lang="en-US" sz="650" b="1" dirty="0">
                <a:solidFill>
                  <a:srgbClr val="F4F0EA"/>
                </a:solidFill>
                <a:latin typeface="Arial" pitchFamily="34" charset="0"/>
                <a:ea typeface="Arial" pitchFamily="34" charset="-122"/>
                <a:cs typeface="Arial" pitchFamily="34" charset="-120"/>
              </a:rPr>
              <a:t>Policies</a:t>
            </a:r>
            <a:endParaRPr lang="en-US" sz="650" dirty="0"/>
          </a:p>
        </p:txBody>
      </p:sp>
      <p:sp>
        <p:nvSpPr>
          <p:cNvPr id="31" name="Text 27"/>
          <p:cNvSpPr/>
          <p:nvPr/>
        </p:nvSpPr>
        <p:spPr>
          <a:xfrm>
            <a:off x="5182791" y="2914650"/>
            <a:ext cx="94320" cy="214313"/>
          </a:xfrm>
          <a:prstGeom prst="rect">
            <a:avLst/>
          </a:prstGeom>
          <a:noFill/>
          <a:ln/>
        </p:spPr>
        <p:txBody>
          <a:bodyPr wrap="none" lIns="0" tIns="0" rIns="0" bIns="0" rtlCol="0" anchor="t">
            <a:spAutoFit/>
          </a:bodyPr>
          <a:lstStyle/>
          <a:p>
            <a:pPr algn="l" indent="0" marL="0">
              <a:buNone/>
            </a:pPr>
            <a:r>
              <a:rPr lang="en-US" sz="1150" dirty="0">
                <a:solidFill>
                  <a:srgbClr val="A19D98"/>
                </a:solidFill>
                <a:latin typeface="monospace" pitchFamily="34" charset="0"/>
                <a:ea typeface="monospace" pitchFamily="34" charset="-122"/>
                <a:cs typeface="monospace" pitchFamily="34" charset="-120"/>
              </a:rPr>
              <a:t>→</a:t>
            </a:r>
            <a:endParaRPr lang="en-US" sz="1150" dirty="0"/>
          </a:p>
        </p:txBody>
      </p:sp>
      <p:sp>
        <p:nvSpPr>
          <p:cNvPr id="32" name="Shape 28"/>
          <p:cNvSpPr/>
          <p:nvPr/>
        </p:nvSpPr>
        <p:spPr>
          <a:xfrm>
            <a:off x="5341404" y="2677120"/>
            <a:ext cx="1014413" cy="689372"/>
          </a:xfrm>
          <a:prstGeom prst="rect">
            <a:avLst/>
          </a:prstGeom>
          <a:solidFill>
            <a:srgbClr val="1A1A1D"/>
          </a:solidFill>
          <a:ln w="9144">
            <a:solidFill>
              <a:srgbClr val="2A2A2C"/>
            </a:solidFill>
            <a:prstDash val="solid"/>
          </a:ln>
        </p:spPr>
      </p:sp>
      <p:sp>
        <p:nvSpPr>
          <p:cNvPr id="33" name="Text 29"/>
          <p:cNvSpPr/>
          <p:nvPr/>
        </p:nvSpPr>
        <p:spPr>
          <a:xfrm>
            <a:off x="5441417" y="2784277"/>
            <a:ext cx="814388"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AGENT 3</a:t>
            </a:r>
            <a:endParaRPr lang="en-US" sz="550" dirty="0"/>
          </a:p>
        </p:txBody>
      </p:sp>
      <p:sp>
        <p:nvSpPr>
          <p:cNvPr id="34" name="Text 30"/>
          <p:cNvSpPr/>
          <p:nvPr/>
        </p:nvSpPr>
        <p:spPr>
          <a:xfrm>
            <a:off x="5441417" y="2998589"/>
            <a:ext cx="814388" cy="132159"/>
          </a:xfrm>
          <a:prstGeom prst="rect">
            <a:avLst/>
          </a:prstGeom>
          <a:noFill/>
          <a:ln/>
        </p:spPr>
        <p:txBody>
          <a:bodyPr wrap="non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Synthesis</a:t>
            </a:r>
            <a:endParaRPr lang="en-US" sz="800" dirty="0"/>
          </a:p>
        </p:txBody>
      </p:sp>
      <p:sp>
        <p:nvSpPr>
          <p:cNvPr id="35" name="Text 31"/>
          <p:cNvSpPr/>
          <p:nvPr/>
        </p:nvSpPr>
        <p:spPr>
          <a:xfrm>
            <a:off x="5441417" y="3166467"/>
            <a:ext cx="814388" cy="92869"/>
          </a:xfrm>
          <a:prstGeom prst="rect">
            <a:avLst/>
          </a:prstGeom>
          <a:noFill/>
          <a:ln/>
        </p:spPr>
        <p:txBody>
          <a:bodyPr wrap="none" lIns="0" tIns="0" rIns="0" bIns="0" rtlCol="0" anchor="t">
            <a:spAutoFit/>
          </a:bodyPr>
          <a:lstStyle/>
          <a:p>
            <a:pPr algn="l" indent="0" marL="0">
              <a:buNone/>
            </a:pPr>
            <a:r>
              <a:rPr lang="en-US" sz="550" dirty="0">
                <a:solidFill>
                  <a:srgbClr val="A19D98"/>
                </a:solidFill>
                <a:latin typeface="Arial" pitchFamily="34" charset="0"/>
                <a:ea typeface="Arial" pitchFamily="34" charset="-122"/>
                <a:cs typeface="Arial" pitchFamily="34" charset="-120"/>
              </a:rPr>
              <a:t>Risk + rationale</a:t>
            </a:r>
            <a:endParaRPr lang="en-US" sz="550" dirty="0"/>
          </a:p>
        </p:txBody>
      </p:sp>
      <p:sp>
        <p:nvSpPr>
          <p:cNvPr id="36" name="Text 32"/>
          <p:cNvSpPr/>
          <p:nvPr/>
        </p:nvSpPr>
        <p:spPr>
          <a:xfrm>
            <a:off x="6420110" y="2914650"/>
            <a:ext cx="94320" cy="214313"/>
          </a:xfrm>
          <a:prstGeom prst="rect">
            <a:avLst/>
          </a:prstGeom>
          <a:noFill/>
          <a:ln/>
        </p:spPr>
        <p:txBody>
          <a:bodyPr wrap="none" lIns="0" tIns="0" rIns="0" bIns="0" rtlCol="0" anchor="t">
            <a:spAutoFit/>
          </a:bodyPr>
          <a:lstStyle/>
          <a:p>
            <a:pPr algn="l" indent="0" marL="0">
              <a:buNone/>
            </a:pPr>
            <a:r>
              <a:rPr lang="en-US" sz="1150" dirty="0">
                <a:solidFill>
                  <a:srgbClr val="A19D98"/>
                </a:solidFill>
                <a:latin typeface="monospace" pitchFamily="34" charset="0"/>
                <a:ea typeface="monospace" pitchFamily="34" charset="-122"/>
                <a:cs typeface="monospace" pitchFamily="34" charset="-120"/>
              </a:rPr>
              <a:t>→</a:t>
            </a:r>
            <a:endParaRPr lang="en-US" sz="1150" dirty="0"/>
          </a:p>
        </p:txBody>
      </p:sp>
      <p:sp>
        <p:nvSpPr>
          <p:cNvPr id="37" name="Shape 33"/>
          <p:cNvSpPr/>
          <p:nvPr/>
        </p:nvSpPr>
        <p:spPr>
          <a:xfrm>
            <a:off x="6578724" y="2630686"/>
            <a:ext cx="1014413" cy="782241"/>
          </a:xfrm>
          <a:prstGeom prst="rect">
            <a:avLst/>
          </a:prstGeom>
          <a:solidFill>
            <a:srgbClr val="1A1A1D"/>
          </a:solidFill>
          <a:ln w="9144">
            <a:solidFill>
              <a:srgbClr val="FFB84D"/>
            </a:solidFill>
            <a:prstDash val="solid"/>
          </a:ln>
        </p:spPr>
      </p:sp>
      <p:sp>
        <p:nvSpPr>
          <p:cNvPr id="38" name="Text 34"/>
          <p:cNvSpPr/>
          <p:nvPr/>
        </p:nvSpPr>
        <p:spPr>
          <a:xfrm>
            <a:off x="6678737" y="2784277"/>
            <a:ext cx="814388" cy="107156"/>
          </a:xfrm>
          <a:prstGeom prst="rect">
            <a:avLst/>
          </a:prstGeom>
          <a:noFill/>
          <a:ln/>
        </p:spPr>
        <p:txBody>
          <a:bodyPr wrap="none" lIns="0" tIns="0" rIns="0" bIns="0" rtlCol="0" anchor="t">
            <a:spAutoFit/>
          </a:bodyPr>
          <a:lstStyle/>
          <a:p>
            <a:pPr algn="l" indent="0" marL="0">
              <a:buNone/>
            </a:pPr>
            <a:r>
              <a:rPr lang="en-US" sz="550" dirty="0">
                <a:solidFill>
                  <a:srgbClr val="FFB84D"/>
                </a:solidFill>
                <a:latin typeface="monospace" pitchFamily="34" charset="0"/>
                <a:ea typeface="monospace" pitchFamily="34" charset="-122"/>
                <a:cs typeface="monospace" pitchFamily="34" charset="-120"/>
              </a:rPr>
              <a:t>GUARD</a:t>
            </a:r>
            <a:endParaRPr lang="en-US" sz="550" dirty="0"/>
          </a:p>
        </p:txBody>
      </p:sp>
      <p:sp>
        <p:nvSpPr>
          <p:cNvPr id="39" name="Text 35"/>
          <p:cNvSpPr/>
          <p:nvPr/>
        </p:nvSpPr>
        <p:spPr>
          <a:xfrm>
            <a:off x="6678737" y="2998589"/>
            <a:ext cx="814388" cy="132159"/>
          </a:xfrm>
          <a:prstGeom prst="rect">
            <a:avLst/>
          </a:prstGeom>
          <a:noFill/>
          <a:ln/>
        </p:spPr>
        <p:txBody>
          <a:bodyPr wrap="non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Safety guard</a:t>
            </a:r>
            <a:endParaRPr lang="en-US" sz="800" dirty="0"/>
          </a:p>
        </p:txBody>
      </p:sp>
      <p:sp>
        <p:nvSpPr>
          <p:cNvPr id="40" name="Text 36"/>
          <p:cNvSpPr/>
          <p:nvPr/>
        </p:nvSpPr>
        <p:spPr>
          <a:xfrm>
            <a:off x="6678737" y="3166467"/>
            <a:ext cx="814388" cy="92869"/>
          </a:xfrm>
          <a:prstGeom prst="rect">
            <a:avLst/>
          </a:prstGeom>
          <a:noFill/>
          <a:ln/>
        </p:spPr>
        <p:txBody>
          <a:bodyPr wrap="none" lIns="0" tIns="0" rIns="0" bIns="0" rtlCol="0" anchor="t">
            <a:spAutoFit/>
          </a:bodyPr>
          <a:lstStyle/>
          <a:p>
            <a:pPr algn="l" indent="0" marL="0">
              <a:buNone/>
            </a:pPr>
            <a:r>
              <a:rPr lang="en-US" sz="550" dirty="0">
                <a:solidFill>
                  <a:srgbClr val="A19D98"/>
                </a:solidFill>
                <a:latin typeface="Arial" pitchFamily="34" charset="0"/>
                <a:ea typeface="Arial" pitchFamily="34" charset="-122"/>
                <a:cs typeface="Arial" pitchFamily="34" charset="-120"/>
              </a:rPr>
              <a:t>Override unsafe advice</a:t>
            </a:r>
            <a:endParaRPr lang="en-US" sz="550" dirty="0"/>
          </a:p>
        </p:txBody>
      </p:sp>
      <p:sp>
        <p:nvSpPr>
          <p:cNvPr id="41" name="Text 37"/>
          <p:cNvSpPr/>
          <p:nvPr/>
        </p:nvSpPr>
        <p:spPr>
          <a:xfrm>
            <a:off x="7657430" y="2914650"/>
            <a:ext cx="94320" cy="214313"/>
          </a:xfrm>
          <a:prstGeom prst="rect">
            <a:avLst/>
          </a:prstGeom>
          <a:noFill/>
          <a:ln/>
        </p:spPr>
        <p:txBody>
          <a:bodyPr wrap="none" lIns="0" tIns="0" rIns="0" bIns="0" rtlCol="0" anchor="t">
            <a:spAutoFit/>
          </a:bodyPr>
          <a:lstStyle/>
          <a:p>
            <a:pPr algn="l" indent="0" marL="0">
              <a:buNone/>
            </a:pPr>
            <a:r>
              <a:rPr lang="en-US" sz="1150" dirty="0">
                <a:solidFill>
                  <a:srgbClr val="A19D98"/>
                </a:solidFill>
                <a:latin typeface="monospace" pitchFamily="34" charset="0"/>
                <a:ea typeface="monospace" pitchFamily="34" charset="-122"/>
                <a:cs typeface="monospace" pitchFamily="34" charset="-120"/>
              </a:rPr>
              <a:t>→</a:t>
            </a:r>
            <a:endParaRPr lang="en-US" sz="1150" dirty="0"/>
          </a:p>
        </p:txBody>
      </p:sp>
      <p:sp>
        <p:nvSpPr>
          <p:cNvPr id="42" name="Shape 38"/>
          <p:cNvSpPr/>
          <p:nvPr/>
        </p:nvSpPr>
        <p:spPr>
          <a:xfrm>
            <a:off x="7816044" y="2677120"/>
            <a:ext cx="1014413" cy="689372"/>
          </a:xfrm>
          <a:prstGeom prst="rect">
            <a:avLst/>
          </a:prstGeom>
          <a:solidFill>
            <a:srgbClr val="1A1A1D"/>
          </a:solidFill>
          <a:ln w="9144">
            <a:solidFill>
              <a:srgbClr val="2ECA7F"/>
            </a:solidFill>
            <a:prstDash val="solid"/>
          </a:ln>
        </p:spPr>
      </p:sp>
      <p:sp>
        <p:nvSpPr>
          <p:cNvPr id="43" name="Text 39"/>
          <p:cNvSpPr/>
          <p:nvPr/>
        </p:nvSpPr>
        <p:spPr>
          <a:xfrm>
            <a:off x="7916056" y="2784277"/>
            <a:ext cx="814388" cy="107156"/>
          </a:xfrm>
          <a:prstGeom prst="rect">
            <a:avLst/>
          </a:prstGeom>
          <a:noFill/>
          <a:ln/>
        </p:spPr>
        <p:txBody>
          <a:bodyPr wrap="none" lIns="0" tIns="0" rIns="0" bIns="0" rtlCol="0" anchor="t">
            <a:spAutoFit/>
          </a:bodyPr>
          <a:lstStyle/>
          <a:p>
            <a:pPr algn="l" indent="0" marL="0">
              <a:buNone/>
            </a:pPr>
            <a:r>
              <a:rPr lang="en-US" sz="550" dirty="0">
                <a:solidFill>
                  <a:srgbClr val="2ECA7F"/>
                </a:solidFill>
                <a:latin typeface="monospace" pitchFamily="34" charset="0"/>
                <a:ea typeface="monospace" pitchFamily="34" charset="-122"/>
                <a:cs typeface="monospace" pitchFamily="34" charset="-120"/>
              </a:rPr>
              <a:t>AGENT 4</a:t>
            </a:r>
            <a:endParaRPr lang="en-US" sz="550" dirty="0"/>
          </a:p>
        </p:txBody>
      </p:sp>
      <p:sp>
        <p:nvSpPr>
          <p:cNvPr id="44" name="Text 40"/>
          <p:cNvSpPr/>
          <p:nvPr/>
        </p:nvSpPr>
        <p:spPr>
          <a:xfrm>
            <a:off x="7916056" y="2998589"/>
            <a:ext cx="814388" cy="132159"/>
          </a:xfrm>
          <a:prstGeom prst="rect">
            <a:avLst/>
          </a:prstGeom>
          <a:noFill/>
          <a:ln/>
        </p:spPr>
        <p:txBody>
          <a:bodyPr wrap="non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Communicate</a:t>
            </a:r>
            <a:endParaRPr lang="en-US" sz="800" dirty="0"/>
          </a:p>
        </p:txBody>
      </p:sp>
      <p:sp>
        <p:nvSpPr>
          <p:cNvPr id="45" name="Text 41"/>
          <p:cNvSpPr/>
          <p:nvPr/>
        </p:nvSpPr>
        <p:spPr>
          <a:xfrm>
            <a:off x="7916056" y="3166467"/>
            <a:ext cx="814388" cy="92869"/>
          </a:xfrm>
          <a:prstGeom prst="rect">
            <a:avLst/>
          </a:prstGeom>
          <a:noFill/>
          <a:ln/>
        </p:spPr>
        <p:txBody>
          <a:bodyPr wrap="none" lIns="0" tIns="0" rIns="0" bIns="0" rtlCol="0" anchor="t">
            <a:spAutoFit/>
          </a:bodyPr>
          <a:lstStyle/>
          <a:p>
            <a:pPr algn="l" indent="0" marL="0">
              <a:buNone/>
            </a:pPr>
            <a:r>
              <a:rPr lang="en-US" sz="550" dirty="0">
                <a:solidFill>
                  <a:srgbClr val="A19D98"/>
                </a:solidFill>
                <a:latin typeface="Arial" pitchFamily="34" charset="0"/>
                <a:ea typeface="Arial" pitchFamily="34" charset="-122"/>
                <a:cs typeface="Arial" pitchFamily="34" charset="-120"/>
              </a:rPr>
              <a:t>Localized safe action</a:t>
            </a:r>
            <a:endParaRPr lang="en-US" sz="550" dirty="0"/>
          </a:p>
        </p:txBody>
      </p:sp>
      <p:sp>
        <p:nvSpPr>
          <p:cNvPr id="46" name="Shape 42"/>
          <p:cNvSpPr/>
          <p:nvPr/>
        </p:nvSpPr>
        <p:spPr>
          <a:xfrm>
            <a:off x="342900" y="4589859"/>
            <a:ext cx="8458200" cy="210741"/>
          </a:xfrm>
          <a:prstGeom prst="rect">
            <a:avLst/>
          </a:prstGeom>
          <a:solidFill>
            <a:srgbClr val="000000">
              <a:alpha val="0"/>
            </a:srgbClr>
          </a:solidFill>
          <a:ln/>
        </p:spPr>
      </p:sp>
      <p:sp>
        <p:nvSpPr>
          <p:cNvPr id="47" name="Shape 43"/>
          <p:cNvSpPr/>
          <p:nvPr/>
        </p:nvSpPr>
        <p:spPr>
          <a:xfrm>
            <a:off x="342900" y="4793456"/>
            <a:ext cx="8458200" cy="7144"/>
          </a:xfrm>
          <a:prstGeom prst="rect">
            <a:avLst/>
          </a:prstGeom>
          <a:solidFill>
            <a:srgbClr val="2A2A2C"/>
          </a:solidFill>
          <a:ln/>
        </p:spPr>
      </p:sp>
      <p:sp>
        <p:nvSpPr>
          <p:cNvPr id="48" name="Text 44"/>
          <p:cNvSpPr/>
          <p:nvPr/>
        </p:nvSpPr>
        <p:spPr>
          <a:xfrm>
            <a:off x="342900" y="4597003"/>
            <a:ext cx="2828925" cy="117872"/>
          </a:xfrm>
          <a:prstGeom prst="rect">
            <a:avLst/>
          </a:prstGeom>
          <a:noFill/>
          <a:ln/>
        </p:spPr>
        <p:txBody>
          <a:bodyPr wrap="square" lIns="0" tIns="0" rIns="0" bIns="0"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JSON SCHEMAS · TEMPORARY UPLOADS · NO BANK CONNECTIVITY</a:t>
            </a:r>
            <a:endParaRPr lang="en-US" sz="600" dirty="0"/>
          </a:p>
        </p:txBody>
      </p:sp>
      <p:sp>
        <p:nvSpPr>
          <p:cNvPr id="49" name="Text 45"/>
          <p:cNvSpPr/>
          <p:nvPr/>
        </p:nvSpPr>
        <p:spPr>
          <a:xfrm>
            <a:off x="7875259" y="4597003"/>
            <a:ext cx="925841" cy="117872"/>
          </a:xfrm>
          <a:prstGeom prst="rect">
            <a:avLst/>
          </a:prstGeom>
          <a:noFill/>
          <a:ln/>
        </p:spPr>
        <p:txBody>
          <a:bodyPr wrap="none" lIns="0" tIns="0" rIns="0" bIns="0"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MAX AGENT CALLS: 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080157"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[SYS-05] / PRODUCT</a:t>
            </a:r>
            <a:endParaRPr lang="en-US" sz="750" dirty="0"/>
          </a:p>
        </p:txBody>
      </p:sp>
      <p:sp>
        <p:nvSpPr>
          <p:cNvPr id="7" name="Text 3"/>
          <p:cNvSpPr/>
          <p:nvPr/>
        </p:nvSpPr>
        <p:spPr>
          <a:xfrm>
            <a:off x="7480902" y="428625"/>
            <a:ext cx="1320198"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JUDGE FLOW: 90 SECONDS</a:t>
            </a:r>
            <a:endParaRPr lang="en-US" sz="750" dirty="0"/>
          </a:p>
        </p:txBody>
      </p:sp>
      <p:sp>
        <p:nvSpPr>
          <p:cNvPr id="8" name="Text 4"/>
          <p:cNvSpPr/>
          <p:nvPr/>
        </p:nvSpPr>
        <p:spPr>
          <a:xfrm>
            <a:off x="342900" y="828675"/>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The product judges can use</a:t>
            </a:r>
            <a:endParaRPr lang="en-US" sz="2300" dirty="0"/>
          </a:p>
        </p:txBody>
      </p:sp>
      <p:sp>
        <p:nvSpPr>
          <p:cNvPr id="9" name="Text 5"/>
          <p:cNvSpPr/>
          <p:nvPr/>
        </p:nvSpPr>
        <p:spPr>
          <a:xfrm>
            <a:off x="342900" y="1239441"/>
            <a:ext cx="8458200" cy="121444"/>
          </a:xfrm>
          <a:prstGeom prst="rect">
            <a:avLst/>
          </a:prstGeom>
          <a:noFill/>
          <a:ln/>
        </p:spPr>
        <p:txBody>
          <a:bodyPr wrap="square" lIns="0" tIns="0" rIns="0" bIns="0" rtlCol="0" anchor="t">
            <a:spAutoFit/>
          </a:bodyPr>
          <a:lstStyle/>
          <a:p>
            <a:pPr algn="l" indent="0" marL="0">
              <a:buNone/>
            </a:pPr>
            <a:r>
              <a:rPr lang="en-US" sz="800" dirty="0">
                <a:solidFill>
                  <a:srgbClr val="A19D98"/>
                </a:solidFill>
                <a:latin typeface="Arial" pitchFamily="34" charset="0"/>
                <a:ea typeface="Arial" pitchFamily="34" charset="-122"/>
                <a:cs typeface="Arial" pitchFamily="34" charset="-120"/>
              </a:rPr>
              <a:t>One input. One explainable result. One safer next step.</a:t>
            </a:r>
            <a:endParaRPr lang="en-US" sz="800" dirty="0"/>
          </a:p>
        </p:txBody>
      </p:sp>
      <p:sp>
        <p:nvSpPr>
          <p:cNvPr id="10" name="Text 6"/>
          <p:cNvSpPr/>
          <p:nvPr/>
        </p:nvSpPr>
        <p:spPr>
          <a:xfrm>
            <a:off x="478631" y="1984623"/>
            <a:ext cx="257175" cy="117872"/>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INPUT</a:t>
            </a:r>
            <a:endParaRPr lang="en-US" sz="600" dirty="0"/>
          </a:p>
        </p:txBody>
      </p:sp>
      <p:sp>
        <p:nvSpPr>
          <p:cNvPr id="11" name="Text 7"/>
          <p:cNvSpPr/>
          <p:nvPr/>
        </p:nvSpPr>
        <p:spPr>
          <a:xfrm>
            <a:off x="478631" y="2145357"/>
            <a:ext cx="3127511"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Message or screenshot</a:t>
            </a:r>
            <a:endParaRPr lang="en-US" sz="1000" dirty="0"/>
          </a:p>
        </p:txBody>
      </p:sp>
      <p:sp>
        <p:nvSpPr>
          <p:cNvPr id="12" name="Text 8"/>
          <p:cNvSpPr/>
          <p:nvPr/>
        </p:nvSpPr>
        <p:spPr>
          <a:xfrm>
            <a:off x="478631" y="2348954"/>
            <a:ext cx="3127511" cy="139973"/>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Text and multimodal evidence enter the same workflow.</a:t>
            </a:r>
            <a:endParaRPr lang="en-US" sz="750" dirty="0"/>
          </a:p>
        </p:txBody>
      </p:sp>
      <p:sp>
        <p:nvSpPr>
          <p:cNvPr id="13" name="Text 9"/>
          <p:cNvSpPr/>
          <p:nvPr/>
        </p:nvSpPr>
        <p:spPr>
          <a:xfrm>
            <a:off x="478631" y="2660377"/>
            <a:ext cx="308632" cy="117872"/>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OUTPUT</a:t>
            </a:r>
            <a:endParaRPr lang="en-US" sz="600" dirty="0"/>
          </a:p>
        </p:txBody>
      </p:sp>
      <p:sp>
        <p:nvSpPr>
          <p:cNvPr id="14" name="Text 10"/>
          <p:cNvSpPr/>
          <p:nvPr/>
        </p:nvSpPr>
        <p:spPr>
          <a:xfrm>
            <a:off x="478631" y="2821112"/>
            <a:ext cx="3127511"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Risk + rationale</a:t>
            </a:r>
            <a:endParaRPr lang="en-US" sz="1000" dirty="0"/>
          </a:p>
        </p:txBody>
      </p:sp>
      <p:sp>
        <p:nvSpPr>
          <p:cNvPr id="15" name="Text 11"/>
          <p:cNvSpPr/>
          <p:nvPr/>
        </p:nvSpPr>
        <p:spPr>
          <a:xfrm>
            <a:off x="478631" y="3024708"/>
            <a:ext cx="3127511" cy="139973"/>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Risk band, confidence, patterns, evidence IDs, and uncertainty.</a:t>
            </a:r>
            <a:endParaRPr lang="en-US" sz="750" dirty="0"/>
          </a:p>
        </p:txBody>
      </p:sp>
      <p:sp>
        <p:nvSpPr>
          <p:cNvPr id="16" name="Text 12"/>
          <p:cNvSpPr/>
          <p:nvPr/>
        </p:nvSpPr>
        <p:spPr>
          <a:xfrm>
            <a:off x="478631" y="3336131"/>
            <a:ext cx="360090" cy="117872"/>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HANDOFF</a:t>
            </a:r>
            <a:endParaRPr lang="en-US" sz="600" dirty="0"/>
          </a:p>
        </p:txBody>
      </p:sp>
      <p:sp>
        <p:nvSpPr>
          <p:cNvPr id="17" name="Text 13"/>
          <p:cNvSpPr/>
          <p:nvPr/>
        </p:nvSpPr>
        <p:spPr>
          <a:xfrm>
            <a:off x="478631" y="3496866"/>
            <a:ext cx="3127511"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Human review</a:t>
            </a:r>
            <a:endParaRPr lang="en-US" sz="1000" dirty="0"/>
          </a:p>
        </p:txBody>
      </p:sp>
      <p:sp>
        <p:nvSpPr>
          <p:cNvPr id="18" name="Text 14"/>
          <p:cNvSpPr/>
          <p:nvPr/>
        </p:nvSpPr>
        <p:spPr>
          <a:xfrm>
            <a:off x="478631" y="3700463"/>
            <a:ext cx="3127511"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Analyst can correct or approve the next step; no autonomous account action.</a:t>
            </a:r>
            <a:endParaRPr lang="en-US" sz="750" dirty="0"/>
          </a:p>
        </p:txBody>
      </p:sp>
      <p:sp>
        <p:nvSpPr>
          <p:cNvPr id="19" name="Shape 15"/>
          <p:cNvSpPr/>
          <p:nvPr/>
        </p:nvSpPr>
        <p:spPr>
          <a:xfrm>
            <a:off x="3906180" y="1771650"/>
            <a:ext cx="4894920" cy="2407444"/>
          </a:xfrm>
          <a:prstGeom prst="rect">
            <a:avLst/>
          </a:prstGeom>
          <a:solidFill>
            <a:srgbClr val="1A1A1D"/>
          </a:solidFill>
          <a:ln w="9144">
            <a:solidFill>
              <a:srgbClr val="2A2A2C"/>
            </a:solidFill>
            <a:prstDash val="solid"/>
          </a:ln>
        </p:spPr>
      </p:sp>
      <p:sp>
        <p:nvSpPr>
          <p:cNvPr id="20" name="Text 16"/>
          <p:cNvSpPr/>
          <p:nvPr/>
        </p:nvSpPr>
        <p:spPr>
          <a:xfrm>
            <a:off x="4049055" y="1921669"/>
            <a:ext cx="660127" cy="107156"/>
          </a:xfrm>
          <a:prstGeom prst="rect">
            <a:avLst/>
          </a:prstGeom>
          <a:noFill/>
          <a:ln/>
        </p:spPr>
        <p:txBody>
          <a:bodyPr wrap="none" lIns="0" tIns="0" rIns="0" bIns="0" rtlCol="0" anchor="t">
            <a:spAutoFit/>
          </a:bodyPr>
          <a:lstStyle/>
          <a:p>
            <a:pPr algn="l" indent="0" marL="0">
              <a:buNone/>
            </a:pPr>
            <a:r>
              <a:rPr lang="en-US" sz="550" b="1" dirty="0">
                <a:solidFill>
                  <a:srgbClr val="F4F0EA"/>
                </a:solidFill>
                <a:latin typeface="monospace" pitchFamily="34" charset="0"/>
                <a:ea typeface="monospace" pitchFamily="34" charset="-122"/>
                <a:cs typeface="monospace" pitchFamily="34" charset="-120"/>
              </a:rPr>
              <a:t>TRUSTLENS APAC</a:t>
            </a:r>
            <a:endParaRPr lang="en-US" sz="550" dirty="0"/>
          </a:p>
        </p:txBody>
      </p:sp>
      <p:sp>
        <p:nvSpPr>
          <p:cNvPr id="21" name="Text 17"/>
          <p:cNvSpPr/>
          <p:nvPr/>
        </p:nvSpPr>
        <p:spPr>
          <a:xfrm>
            <a:off x="7196603" y="1921669"/>
            <a:ext cx="1461622" cy="107156"/>
          </a:xfrm>
          <a:prstGeom prst="rect">
            <a:avLst/>
          </a:prstGeom>
          <a:noFill/>
          <a:ln/>
        </p:spPr>
        <p:txBody>
          <a:bodyPr wrap="square" lIns="0" tIns="0" rIns="0" bIns="0" rtlCol="0" anchor="t">
            <a:spAutoFit/>
          </a:bodyPr>
          <a:lstStyle/>
          <a:p>
            <a:pPr algn="l" indent="0" marL="0">
              <a:buNone/>
            </a:pPr>
            <a:r>
              <a:rPr lang="en-US" sz="550" dirty="0">
                <a:solidFill>
                  <a:srgbClr val="A19D98"/>
                </a:solidFill>
                <a:latin typeface="monospace" pitchFamily="34" charset="0"/>
                <a:ea typeface="monospace" pitchFamily="34" charset="-122"/>
                <a:cs typeface="monospace" pitchFamily="34" charset="-120"/>
              </a:rPr>
              <a:t>LIVE PROTOTYPE · CASE TL-ABC123</a:t>
            </a:r>
            <a:endParaRPr lang="en-US" sz="550" dirty="0"/>
          </a:p>
        </p:txBody>
      </p:sp>
      <p:sp>
        <p:nvSpPr>
          <p:cNvPr id="22" name="Text 18"/>
          <p:cNvSpPr/>
          <p:nvPr/>
        </p:nvSpPr>
        <p:spPr>
          <a:xfrm>
            <a:off x="4049055" y="2243138"/>
            <a:ext cx="1693571" cy="1785938"/>
          </a:xfrm>
          <a:prstGeom prst="rect">
            <a:avLst/>
          </a:prstGeom>
          <a:noFill/>
          <a:ln/>
        </p:spPr>
        <p:txBody>
          <a:bodyPr wrap="square" lIns="119126" tIns="119126" rIns="119126" bIns="119126" rtlCol="0" anchor="t">
            <a:spAutoFit/>
          </a:bodyPr>
          <a:lstStyle/>
          <a:p>
            <a:pPr algn="l" indent="0" marL="0">
              <a:lnSpc>
                <a:spcPct val="120000"/>
              </a:lnSpc>
              <a:buNone/>
            </a:pPr>
            <a:r>
              <a:rPr lang="en-US" sz="600" dirty="0">
                <a:solidFill>
                  <a:srgbClr val="A19D98"/>
                </a:solidFill>
                <a:latin typeface="Arial" pitchFamily="34" charset="0"/>
                <a:ea typeface="Arial" pitchFamily="34" charset="-122"/>
                <a:cs typeface="Arial" pitchFamily="34" charset="-120"/>
              </a:rPr>
              <a:t>Your bank refund is pending.</a:t>
            </a:r>
            <a:r>
              <a:rPr lang="en-US" sz="600" dirty="0">
                <a:solidFill>
                  <a:srgbClr val="A19D98"/>
                </a:solidFill>
                <a:latin typeface="Arial" pitchFamily="34" charset="0"/>
                <a:ea typeface="Arial" pitchFamily="34" charset="-122"/>
                <a:cs typeface="Arial" pitchFamily="34" charset="-120"/>
              </a:rPr>
              <a:t>
</a:t>
            </a:r>
            <a:r>
              <a:rPr lang="en-US" sz="600" dirty="0">
                <a:solidFill>
                  <a:srgbClr val="A19D98"/>
                </a:solidFill>
                <a:latin typeface="Arial" pitchFamily="34" charset="0"/>
                <a:ea typeface="Arial" pitchFamily="34" charset="-122"/>
                <a:cs typeface="Arial" pitchFamily="34" charset="-120"/>
              </a:rPr>
              <a:t>Share your OTP and click</a:t>
            </a:r>
            <a:r>
              <a:rPr lang="en-US" sz="600" dirty="0">
                <a:solidFill>
                  <a:srgbClr val="A19D98"/>
                </a:solidFill>
                <a:latin typeface="Arial" pitchFamily="34" charset="0"/>
                <a:ea typeface="Arial" pitchFamily="34" charset="-122"/>
                <a:cs typeface="Arial" pitchFamily="34" charset="-120"/>
              </a:rPr>
              <a:t>
</a:t>
            </a:r>
            <a:r>
              <a:rPr lang="en-US" sz="600" dirty="0">
                <a:solidFill>
                  <a:srgbClr val="A19D98"/>
                </a:solidFill>
                <a:latin typeface="Arial" pitchFamily="34" charset="0"/>
                <a:ea typeface="Arial" pitchFamily="34" charset="-122"/>
                <a:cs typeface="Arial" pitchFamily="34" charset="-120"/>
              </a:rPr>
              <a:t>http://example.test</a:t>
            </a:r>
            <a:r>
              <a:rPr lang="en-US" sz="600" dirty="0">
                <a:solidFill>
                  <a:srgbClr val="A19D98"/>
                </a:solidFill>
                <a:latin typeface="Arial" pitchFamily="34" charset="0"/>
                <a:ea typeface="Arial" pitchFamily="34" charset="-122"/>
                <a:cs typeface="Arial" pitchFamily="34" charset="-120"/>
              </a:rPr>
              <a:t>
</a:t>
            </a:r>
            <a:r>
              <a:rPr lang="en-US" sz="600" dirty="0">
                <a:solidFill>
                  <a:srgbClr val="A19D98"/>
                </a:solidFill>
                <a:latin typeface="Arial" pitchFamily="34" charset="0"/>
                <a:ea typeface="Arial" pitchFamily="34" charset="-122"/>
                <a:cs typeface="Arial" pitchFamily="34" charset="-120"/>
              </a:rPr>
              <a:t>to release the money.</a:t>
            </a:r>
            <a:endParaRPr lang="en-US" sz="600" dirty="0"/>
          </a:p>
        </p:txBody>
      </p:sp>
      <p:sp>
        <p:nvSpPr>
          <p:cNvPr id="23" name="Shape 19"/>
          <p:cNvSpPr/>
          <p:nvPr/>
        </p:nvSpPr>
        <p:spPr>
          <a:xfrm>
            <a:off x="5835495" y="2243138"/>
            <a:ext cx="2822730" cy="1785938"/>
          </a:xfrm>
          <a:prstGeom prst="rect">
            <a:avLst/>
          </a:prstGeom>
          <a:solidFill>
            <a:srgbClr val="14251F"/>
          </a:solidFill>
          <a:ln w="9144">
            <a:solidFill>
              <a:srgbClr val="2ECA7F"/>
            </a:solidFill>
            <a:prstDash val="solid"/>
          </a:ln>
        </p:spPr>
      </p:sp>
      <p:sp>
        <p:nvSpPr>
          <p:cNvPr id="24" name="Text 20"/>
          <p:cNvSpPr/>
          <p:nvPr/>
        </p:nvSpPr>
        <p:spPr>
          <a:xfrm>
            <a:off x="5935507" y="2343150"/>
            <a:ext cx="2622705" cy="117872"/>
          </a:xfrm>
          <a:prstGeom prst="rect">
            <a:avLst/>
          </a:prstGeom>
          <a:noFill/>
          <a:ln/>
        </p:spPr>
        <p:txBody>
          <a:bodyPr wrap="squar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 HIGH RISK / 91% CONFIDENCE</a:t>
            </a:r>
            <a:endParaRPr lang="en-US" sz="600" dirty="0"/>
          </a:p>
        </p:txBody>
      </p:sp>
      <p:sp>
        <p:nvSpPr>
          <p:cNvPr id="25" name="Text 21"/>
          <p:cNvSpPr/>
          <p:nvPr/>
        </p:nvSpPr>
        <p:spPr>
          <a:xfrm>
            <a:off x="5935507" y="2568178"/>
            <a:ext cx="2622705" cy="178594"/>
          </a:xfrm>
          <a:prstGeom prst="rect">
            <a:avLst/>
          </a:prstGeom>
          <a:noFill/>
          <a:ln/>
        </p:spPr>
        <p:txBody>
          <a:bodyPr wrap="square" lIns="0" tIns="0" rIns="0" bIns="0" rtlCol="0" anchor="t">
            <a:spAutoFit/>
          </a:bodyPr>
          <a:lstStyle/>
          <a:p>
            <a:pPr algn="l" indent="0" marL="0">
              <a:buNone/>
            </a:pPr>
            <a:r>
              <a:rPr lang="en-US" sz="1100" b="1" dirty="0">
                <a:solidFill>
                  <a:srgbClr val="F4F0EA"/>
                </a:solidFill>
                <a:latin typeface="Arial" pitchFamily="34" charset="0"/>
                <a:ea typeface="Arial" pitchFamily="34" charset="-122"/>
                <a:cs typeface="Arial" pitchFamily="34" charset="-120"/>
              </a:rPr>
              <a:t>Stop before sharing your code</a:t>
            </a:r>
            <a:endParaRPr lang="en-US" sz="1100" dirty="0"/>
          </a:p>
        </p:txBody>
      </p:sp>
      <p:sp>
        <p:nvSpPr>
          <p:cNvPr id="26" name="Text 22"/>
          <p:cNvSpPr/>
          <p:nvPr/>
        </p:nvSpPr>
        <p:spPr>
          <a:xfrm>
            <a:off x="5935507" y="2811066"/>
            <a:ext cx="2622705" cy="37287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A19D98"/>
                </a:solidFill>
                <a:latin typeface="Arial" pitchFamily="34" charset="0"/>
                <a:ea typeface="Arial" pitchFamily="34" charset="-122"/>
                <a:cs typeface="Arial" pitchFamily="34" charset="-120"/>
              </a:rPr>
              <a:t>The message requests a one-time password and redirects you to an unsolicited link. Contact the institution through an independently verified channel.</a:t>
            </a:r>
            <a:endParaRPr lang="en-US" sz="600" dirty="0"/>
          </a:p>
        </p:txBody>
      </p:sp>
      <p:sp>
        <p:nvSpPr>
          <p:cNvPr id="27" name="Text 23"/>
          <p:cNvSpPr/>
          <p:nvPr/>
        </p:nvSpPr>
        <p:spPr>
          <a:xfrm>
            <a:off x="5935507" y="3283948"/>
            <a:ext cx="1014413" cy="182166"/>
          </a:xfrm>
          <a:prstGeom prst="rect">
            <a:avLst/>
          </a:prstGeom>
          <a:noFill/>
          <a:ln/>
        </p:spPr>
        <p:txBody>
          <a:bodyPr wrap="none" lIns="59563" tIns="42545" rIns="59563" bIns="42545" rtlCol="0" anchor="t">
            <a:spAutoFit/>
          </a:bodyPr>
          <a:lstStyle/>
          <a:p>
            <a:pPr algn="l" indent="0" marL="0">
              <a:buNone/>
            </a:pPr>
            <a:r>
              <a:rPr lang="en-US" sz="500" dirty="0">
                <a:solidFill>
                  <a:srgbClr val="FFB84D"/>
                </a:solidFill>
                <a:latin typeface="monospace" pitchFamily="34" charset="0"/>
                <a:ea typeface="monospace" pitchFamily="34" charset="-122"/>
                <a:cs typeface="monospace" pitchFamily="34" charset="-120"/>
              </a:rPr>
              <a:t>credential harvesting</a:t>
            </a:r>
            <a:endParaRPr lang="en-US" sz="500" dirty="0"/>
          </a:p>
        </p:txBody>
      </p:sp>
      <p:sp>
        <p:nvSpPr>
          <p:cNvPr id="28" name="Text 24"/>
          <p:cNvSpPr/>
          <p:nvPr/>
        </p:nvSpPr>
        <p:spPr>
          <a:xfrm>
            <a:off x="6978495" y="3283948"/>
            <a:ext cx="585788" cy="182166"/>
          </a:xfrm>
          <a:prstGeom prst="rect">
            <a:avLst/>
          </a:prstGeom>
          <a:noFill/>
          <a:ln/>
        </p:spPr>
        <p:txBody>
          <a:bodyPr wrap="none" lIns="59563" tIns="42545" rIns="59563" bIns="42545" rtlCol="0" anchor="t">
            <a:spAutoFit/>
          </a:bodyPr>
          <a:lstStyle/>
          <a:p>
            <a:pPr algn="l" indent="0" marL="0">
              <a:buNone/>
            </a:pPr>
            <a:r>
              <a:rPr lang="en-US" sz="500" dirty="0">
                <a:solidFill>
                  <a:srgbClr val="FFB84D"/>
                </a:solidFill>
                <a:latin typeface="monospace" pitchFamily="34" charset="0"/>
                <a:ea typeface="monospace" pitchFamily="34" charset="-122"/>
                <a:cs typeface="monospace" pitchFamily="34" charset="-120"/>
              </a:rPr>
              <a:t>fake refund</a:t>
            </a:r>
            <a:endParaRPr lang="en-US" sz="500" dirty="0"/>
          </a:p>
        </p:txBody>
      </p:sp>
      <p:sp>
        <p:nvSpPr>
          <p:cNvPr id="29" name="Text 25"/>
          <p:cNvSpPr/>
          <p:nvPr/>
        </p:nvSpPr>
        <p:spPr>
          <a:xfrm>
            <a:off x="7592857" y="3283948"/>
            <a:ext cx="628650" cy="182166"/>
          </a:xfrm>
          <a:prstGeom prst="rect">
            <a:avLst/>
          </a:prstGeom>
          <a:noFill/>
          <a:ln/>
        </p:spPr>
        <p:txBody>
          <a:bodyPr wrap="none" lIns="59563" tIns="42545" rIns="59563" bIns="42545" rtlCol="0" anchor="t">
            <a:spAutoFit/>
          </a:bodyPr>
          <a:lstStyle/>
          <a:p>
            <a:pPr algn="l" indent="0" marL="0">
              <a:buNone/>
            </a:pPr>
            <a:r>
              <a:rPr lang="en-US" sz="500" dirty="0">
                <a:solidFill>
                  <a:srgbClr val="FFB84D"/>
                </a:solidFill>
                <a:latin typeface="monospace" pitchFamily="34" charset="0"/>
                <a:ea typeface="monospace" pitchFamily="34" charset="-122"/>
                <a:cs typeface="monospace" pitchFamily="34" charset="-120"/>
              </a:rPr>
              <a:t>human review</a:t>
            </a:r>
            <a:endParaRPr lang="en-US" sz="500" dirty="0"/>
          </a:p>
        </p:txBody>
      </p:sp>
      <p:sp>
        <p:nvSpPr>
          <p:cNvPr id="30" name="Shape 26"/>
          <p:cNvSpPr/>
          <p:nvPr/>
        </p:nvSpPr>
        <p:spPr>
          <a:xfrm>
            <a:off x="342900" y="4589859"/>
            <a:ext cx="8458200" cy="210741"/>
          </a:xfrm>
          <a:prstGeom prst="rect">
            <a:avLst/>
          </a:prstGeom>
          <a:solidFill>
            <a:srgbClr val="000000">
              <a:alpha val="0"/>
            </a:srgbClr>
          </a:solidFill>
          <a:ln/>
        </p:spPr>
      </p:sp>
      <p:sp>
        <p:nvSpPr>
          <p:cNvPr id="31" name="Shape 27"/>
          <p:cNvSpPr/>
          <p:nvPr/>
        </p:nvSpPr>
        <p:spPr>
          <a:xfrm>
            <a:off x="342900" y="4793456"/>
            <a:ext cx="8458200" cy="7144"/>
          </a:xfrm>
          <a:prstGeom prst="rect">
            <a:avLst/>
          </a:prstGeom>
          <a:solidFill>
            <a:srgbClr val="2A2A2C"/>
          </a:solidFill>
          <a:ln/>
        </p:spPr>
      </p:sp>
      <p:sp>
        <p:nvSpPr>
          <p:cNvPr id="32" name="Text 28"/>
          <p:cNvSpPr/>
          <p:nvPr/>
        </p:nvSpPr>
        <p:spPr>
          <a:xfrm>
            <a:off x="342900" y="4589859"/>
            <a:ext cx="8458200" cy="210741"/>
          </a:xfrm>
          <a:prstGeom prst="rect">
            <a:avLst/>
          </a:prstGeom>
          <a:noFill/>
          <a:ln/>
        </p:spPr>
        <p:txBody>
          <a:bodyPr wrap="square" lIns="0" tIns="0" rIns="0" bIns="102108"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DESIGNED FOR FAST, SAFE COMPREHENSION — NOT FOR A GENERIC CHAT EXPERIENCE.</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320198"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[SYS-06] / GENAI DEPTH</a:t>
            </a:r>
            <a:endParaRPr lang="en-US" sz="750" dirty="0"/>
          </a:p>
        </p:txBody>
      </p:sp>
      <p:sp>
        <p:nvSpPr>
          <p:cNvPr id="7" name="Text 3"/>
          <p:cNvSpPr/>
          <p:nvPr/>
        </p:nvSpPr>
        <p:spPr>
          <a:xfrm>
            <a:off x="7540898" y="428625"/>
            <a:ext cx="1260202"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TECHNICAL MERIT · 40%</a:t>
            </a:r>
            <a:endParaRPr lang="en-US" sz="750" dirty="0"/>
          </a:p>
        </p:txBody>
      </p:sp>
      <p:sp>
        <p:nvSpPr>
          <p:cNvPr id="8" name="Text 4"/>
          <p:cNvSpPr/>
          <p:nvPr/>
        </p:nvSpPr>
        <p:spPr>
          <a:xfrm>
            <a:off x="342900" y="828675"/>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Where Gemini creates real leverage</a:t>
            </a:r>
            <a:endParaRPr lang="en-US" sz="2300" dirty="0"/>
          </a:p>
        </p:txBody>
      </p:sp>
      <p:sp>
        <p:nvSpPr>
          <p:cNvPr id="9" name="Text 5"/>
          <p:cNvSpPr/>
          <p:nvPr/>
        </p:nvSpPr>
        <p:spPr>
          <a:xfrm>
            <a:off x="342900" y="1246584"/>
            <a:ext cx="8458200"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Generative reasoning is visible, bounded, and testable at every stage.</a:t>
            </a:r>
            <a:endParaRPr lang="en-US" sz="750" dirty="0"/>
          </a:p>
        </p:txBody>
      </p:sp>
      <p:sp>
        <p:nvSpPr>
          <p:cNvPr id="10" name="Shape 6"/>
          <p:cNvSpPr/>
          <p:nvPr/>
        </p:nvSpPr>
        <p:spPr>
          <a:xfrm>
            <a:off x="342900" y="1596628"/>
            <a:ext cx="8458200" cy="2836069"/>
          </a:xfrm>
          <a:prstGeom prst="rect">
            <a:avLst/>
          </a:prstGeom>
          <a:solidFill>
            <a:srgbClr val="2A2A2C"/>
          </a:solidFill>
          <a:ln/>
        </p:spPr>
      </p:sp>
      <p:sp>
        <p:nvSpPr>
          <p:cNvPr id="11" name="Shape 7"/>
          <p:cNvSpPr/>
          <p:nvPr/>
        </p:nvSpPr>
        <p:spPr>
          <a:xfrm>
            <a:off x="342900" y="1596628"/>
            <a:ext cx="4225528" cy="1414463"/>
          </a:xfrm>
          <a:prstGeom prst="rect">
            <a:avLst/>
          </a:prstGeom>
          <a:solidFill>
            <a:srgbClr val="1A1A1D"/>
          </a:solidFill>
          <a:ln/>
        </p:spPr>
      </p:sp>
      <p:sp>
        <p:nvSpPr>
          <p:cNvPr id="12" name="Text 8"/>
          <p:cNvSpPr/>
          <p:nvPr/>
        </p:nvSpPr>
        <p:spPr>
          <a:xfrm>
            <a:off x="500063" y="1753791"/>
            <a:ext cx="785813" cy="1100138"/>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MULTIMODAL</a:t>
            </a:r>
            <a:endParaRPr lang="en-US" sz="600" dirty="0"/>
          </a:p>
        </p:txBody>
      </p:sp>
      <p:sp>
        <p:nvSpPr>
          <p:cNvPr id="13" name="Text 9"/>
          <p:cNvSpPr/>
          <p:nvPr/>
        </p:nvSpPr>
        <p:spPr>
          <a:xfrm>
            <a:off x="1414463" y="1753791"/>
            <a:ext cx="2996803" cy="153591"/>
          </a:xfrm>
          <a:prstGeom prst="rect">
            <a:avLst/>
          </a:prstGeom>
          <a:noFill/>
          <a:ln/>
        </p:spPr>
        <p:txBody>
          <a:bodyPr wrap="square" lIns="0" tIns="0" rIns="0" bIns="0" rtlCol="0" anchor="t">
            <a:spAutoFit/>
          </a:bodyPr>
          <a:lstStyle/>
          <a:p>
            <a:pPr algn="l" indent="0" marL="0">
              <a:buNone/>
            </a:pPr>
            <a:r>
              <a:rPr lang="en-US" sz="950" b="1" dirty="0">
                <a:solidFill>
                  <a:srgbClr val="F4F0EA"/>
                </a:solidFill>
                <a:latin typeface="Arial" pitchFamily="34" charset="0"/>
                <a:ea typeface="Arial" pitchFamily="34" charset="-122"/>
                <a:cs typeface="Arial" pitchFamily="34" charset="-120"/>
              </a:rPr>
              <a:t>Read what users actually receive</a:t>
            </a:r>
            <a:endParaRPr lang="en-US" sz="950" dirty="0"/>
          </a:p>
        </p:txBody>
      </p:sp>
      <p:sp>
        <p:nvSpPr>
          <p:cNvPr id="14" name="Text 10"/>
          <p:cNvSpPr/>
          <p:nvPr/>
        </p:nvSpPr>
        <p:spPr>
          <a:xfrm>
            <a:off x="1414463" y="1964531"/>
            <a:ext cx="2996803"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A19D98"/>
                </a:solidFill>
                <a:latin typeface="Arial" pitchFamily="34" charset="0"/>
                <a:ea typeface="Arial" pitchFamily="34" charset="-122"/>
                <a:cs typeface="Arial" pitchFamily="34" charset="-120"/>
              </a:rPr>
              <a:t>Gemini extracts text and visual cues from screenshots, including sender claims, links, and urgency signals.</a:t>
            </a:r>
            <a:endParaRPr lang="en-US" sz="650" dirty="0"/>
          </a:p>
        </p:txBody>
      </p:sp>
      <p:sp>
        <p:nvSpPr>
          <p:cNvPr id="15" name="Shape 11"/>
          <p:cNvSpPr/>
          <p:nvPr/>
        </p:nvSpPr>
        <p:spPr>
          <a:xfrm>
            <a:off x="4575572" y="1596628"/>
            <a:ext cx="4225528" cy="1414463"/>
          </a:xfrm>
          <a:prstGeom prst="rect">
            <a:avLst/>
          </a:prstGeom>
          <a:solidFill>
            <a:srgbClr val="1A1A1D"/>
          </a:solidFill>
          <a:ln/>
        </p:spPr>
      </p:sp>
      <p:sp>
        <p:nvSpPr>
          <p:cNvPr id="16" name="Text 12"/>
          <p:cNvSpPr/>
          <p:nvPr/>
        </p:nvSpPr>
        <p:spPr>
          <a:xfrm>
            <a:off x="4732734" y="1753791"/>
            <a:ext cx="785813" cy="1100138"/>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SCHEMA</a:t>
            </a:r>
            <a:endParaRPr lang="en-US" sz="600" dirty="0"/>
          </a:p>
        </p:txBody>
      </p:sp>
      <p:sp>
        <p:nvSpPr>
          <p:cNvPr id="17" name="Text 13"/>
          <p:cNvSpPr/>
          <p:nvPr/>
        </p:nvSpPr>
        <p:spPr>
          <a:xfrm>
            <a:off x="5647134" y="1753791"/>
            <a:ext cx="2996803" cy="153591"/>
          </a:xfrm>
          <a:prstGeom prst="rect">
            <a:avLst/>
          </a:prstGeom>
          <a:noFill/>
          <a:ln/>
        </p:spPr>
        <p:txBody>
          <a:bodyPr wrap="square" lIns="0" tIns="0" rIns="0" bIns="0" rtlCol="0" anchor="t">
            <a:spAutoFit/>
          </a:bodyPr>
          <a:lstStyle/>
          <a:p>
            <a:pPr algn="l" indent="0" marL="0">
              <a:buNone/>
            </a:pPr>
            <a:r>
              <a:rPr lang="en-US" sz="950" b="1" dirty="0">
                <a:solidFill>
                  <a:srgbClr val="F4F0EA"/>
                </a:solidFill>
                <a:latin typeface="Arial" pitchFamily="34" charset="0"/>
                <a:ea typeface="Arial" pitchFamily="34" charset="-122"/>
                <a:cs typeface="Arial" pitchFamily="34" charset="-120"/>
              </a:rPr>
              <a:t>Return objects, not prose</a:t>
            </a:r>
            <a:endParaRPr lang="en-US" sz="950" dirty="0"/>
          </a:p>
        </p:txBody>
      </p:sp>
      <p:sp>
        <p:nvSpPr>
          <p:cNvPr id="18" name="Text 14"/>
          <p:cNvSpPr/>
          <p:nvPr/>
        </p:nvSpPr>
        <p:spPr>
          <a:xfrm>
            <a:off x="5647134" y="1964531"/>
            <a:ext cx="2996803"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A19D98"/>
                </a:solidFill>
                <a:latin typeface="Arial" pitchFamily="34" charset="0"/>
                <a:ea typeface="Arial" pitchFamily="34" charset="-122"/>
                <a:cs typeface="Arial" pitchFamily="34" charset="-120"/>
              </a:rPr>
              <a:t>Pydantic contracts constrain every agent response and make the UI and guard path deterministic.</a:t>
            </a:r>
            <a:endParaRPr lang="en-US" sz="650" dirty="0"/>
          </a:p>
        </p:txBody>
      </p:sp>
      <p:sp>
        <p:nvSpPr>
          <p:cNvPr id="19" name="Shape 15"/>
          <p:cNvSpPr/>
          <p:nvPr/>
        </p:nvSpPr>
        <p:spPr>
          <a:xfrm>
            <a:off x="342900" y="3018234"/>
            <a:ext cx="4225528" cy="1414463"/>
          </a:xfrm>
          <a:prstGeom prst="rect">
            <a:avLst/>
          </a:prstGeom>
          <a:solidFill>
            <a:srgbClr val="1A1A1D"/>
          </a:solidFill>
          <a:ln/>
        </p:spPr>
      </p:sp>
      <p:sp>
        <p:nvSpPr>
          <p:cNvPr id="20" name="Text 16"/>
          <p:cNvSpPr/>
          <p:nvPr/>
        </p:nvSpPr>
        <p:spPr>
          <a:xfrm>
            <a:off x="500063" y="3175397"/>
            <a:ext cx="785813" cy="1100138"/>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PARALLEL</a:t>
            </a:r>
            <a:endParaRPr lang="en-US" sz="600" dirty="0"/>
          </a:p>
        </p:txBody>
      </p:sp>
      <p:sp>
        <p:nvSpPr>
          <p:cNvPr id="21" name="Text 17"/>
          <p:cNvSpPr/>
          <p:nvPr/>
        </p:nvSpPr>
        <p:spPr>
          <a:xfrm>
            <a:off x="1414463" y="3175397"/>
            <a:ext cx="2996803" cy="153591"/>
          </a:xfrm>
          <a:prstGeom prst="rect">
            <a:avLst/>
          </a:prstGeom>
          <a:noFill/>
          <a:ln/>
        </p:spPr>
        <p:txBody>
          <a:bodyPr wrap="square" lIns="0" tIns="0" rIns="0" bIns="0" rtlCol="0" anchor="t">
            <a:spAutoFit/>
          </a:bodyPr>
          <a:lstStyle/>
          <a:p>
            <a:pPr algn="l" indent="0" marL="0">
              <a:buNone/>
            </a:pPr>
            <a:r>
              <a:rPr lang="en-US" sz="950" b="1" dirty="0">
                <a:solidFill>
                  <a:srgbClr val="F4F0EA"/>
                </a:solidFill>
                <a:latin typeface="Arial" pitchFamily="34" charset="0"/>
                <a:ea typeface="Arial" pitchFamily="34" charset="-122"/>
                <a:cs typeface="Arial" pitchFamily="34" charset="-120"/>
              </a:rPr>
              <a:t>Separate reasoning responsibilities</a:t>
            </a:r>
            <a:endParaRPr lang="en-US" sz="950" dirty="0"/>
          </a:p>
        </p:txBody>
      </p:sp>
      <p:sp>
        <p:nvSpPr>
          <p:cNvPr id="22" name="Text 18"/>
          <p:cNvSpPr/>
          <p:nvPr/>
        </p:nvSpPr>
        <p:spPr>
          <a:xfrm>
            <a:off x="1414463" y="3386138"/>
            <a:ext cx="2996803"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A19D98"/>
                </a:solidFill>
                <a:latin typeface="Arial" pitchFamily="34" charset="0"/>
                <a:ea typeface="Arial" pitchFamily="34" charset="-122"/>
                <a:cs typeface="Arial" pitchFamily="34" charset="-120"/>
              </a:rPr>
              <a:t>Pattern matching and policy analysis run independently after extraction, reducing coupling and latency.</a:t>
            </a:r>
            <a:endParaRPr lang="en-US" sz="650" dirty="0"/>
          </a:p>
        </p:txBody>
      </p:sp>
      <p:sp>
        <p:nvSpPr>
          <p:cNvPr id="23" name="Shape 19"/>
          <p:cNvSpPr/>
          <p:nvPr/>
        </p:nvSpPr>
        <p:spPr>
          <a:xfrm>
            <a:off x="4575572" y="3018234"/>
            <a:ext cx="4225528" cy="1414463"/>
          </a:xfrm>
          <a:prstGeom prst="rect">
            <a:avLst/>
          </a:prstGeom>
          <a:solidFill>
            <a:srgbClr val="1A1A1D"/>
          </a:solidFill>
          <a:ln/>
        </p:spPr>
      </p:sp>
      <p:sp>
        <p:nvSpPr>
          <p:cNvPr id="24" name="Text 20"/>
          <p:cNvSpPr/>
          <p:nvPr/>
        </p:nvSpPr>
        <p:spPr>
          <a:xfrm>
            <a:off x="4732734" y="3175397"/>
            <a:ext cx="785813" cy="1100138"/>
          </a:xfrm>
          <a:prstGeom prst="rect">
            <a:avLst/>
          </a:prstGeom>
          <a:noFill/>
          <a:ln/>
        </p:spPr>
        <p:txBody>
          <a:bodyPr wrap="non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LOCALIZE</a:t>
            </a:r>
            <a:endParaRPr lang="en-US" sz="600" dirty="0"/>
          </a:p>
        </p:txBody>
      </p:sp>
      <p:sp>
        <p:nvSpPr>
          <p:cNvPr id="25" name="Text 21"/>
          <p:cNvSpPr/>
          <p:nvPr/>
        </p:nvSpPr>
        <p:spPr>
          <a:xfrm>
            <a:off x="5647134" y="3175397"/>
            <a:ext cx="2996803" cy="153591"/>
          </a:xfrm>
          <a:prstGeom prst="rect">
            <a:avLst/>
          </a:prstGeom>
          <a:noFill/>
          <a:ln/>
        </p:spPr>
        <p:txBody>
          <a:bodyPr wrap="square" lIns="0" tIns="0" rIns="0" bIns="0" rtlCol="0" anchor="t">
            <a:spAutoFit/>
          </a:bodyPr>
          <a:lstStyle/>
          <a:p>
            <a:pPr algn="l" indent="0" marL="0">
              <a:buNone/>
            </a:pPr>
            <a:r>
              <a:rPr lang="en-US" sz="950" b="1" dirty="0">
                <a:solidFill>
                  <a:srgbClr val="F4F0EA"/>
                </a:solidFill>
                <a:latin typeface="Arial" pitchFamily="34" charset="0"/>
                <a:ea typeface="Arial" pitchFamily="34" charset="-122"/>
                <a:cs typeface="Arial" pitchFamily="34" charset="-120"/>
              </a:rPr>
              <a:t>Make safety actionable</a:t>
            </a:r>
            <a:endParaRPr lang="en-US" sz="950" dirty="0"/>
          </a:p>
        </p:txBody>
      </p:sp>
      <p:sp>
        <p:nvSpPr>
          <p:cNvPr id="26" name="Text 22"/>
          <p:cNvSpPr/>
          <p:nvPr/>
        </p:nvSpPr>
        <p:spPr>
          <a:xfrm>
            <a:off x="5647134" y="3386138"/>
            <a:ext cx="2996803" cy="259966"/>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A19D98"/>
                </a:solidFill>
                <a:latin typeface="Arial" pitchFamily="34" charset="0"/>
                <a:ea typeface="Arial" pitchFamily="34" charset="-122"/>
                <a:cs typeface="Arial" pitchFamily="34" charset="-120"/>
              </a:rPr>
              <a:t>Communication is generated in the selected language, while prohibited-action warnings remain explicit.</a:t>
            </a:r>
            <a:endParaRPr lang="en-US" sz="650" dirty="0"/>
          </a:p>
        </p:txBody>
      </p:sp>
      <p:sp>
        <p:nvSpPr>
          <p:cNvPr id="27" name="Shape 23"/>
          <p:cNvSpPr/>
          <p:nvPr/>
        </p:nvSpPr>
        <p:spPr>
          <a:xfrm>
            <a:off x="342900" y="4589859"/>
            <a:ext cx="8458200" cy="210741"/>
          </a:xfrm>
          <a:prstGeom prst="rect">
            <a:avLst/>
          </a:prstGeom>
          <a:solidFill>
            <a:srgbClr val="000000">
              <a:alpha val="0"/>
            </a:srgbClr>
          </a:solidFill>
          <a:ln/>
        </p:spPr>
      </p:sp>
      <p:sp>
        <p:nvSpPr>
          <p:cNvPr id="28" name="Shape 24"/>
          <p:cNvSpPr/>
          <p:nvPr/>
        </p:nvSpPr>
        <p:spPr>
          <a:xfrm>
            <a:off x="342900" y="4793456"/>
            <a:ext cx="8458200" cy="7144"/>
          </a:xfrm>
          <a:prstGeom prst="rect">
            <a:avLst/>
          </a:prstGeom>
          <a:solidFill>
            <a:srgbClr val="2A2A2C"/>
          </a:solidFill>
          <a:ln/>
        </p:spPr>
      </p:sp>
      <p:sp>
        <p:nvSpPr>
          <p:cNvPr id="29" name="Text 25"/>
          <p:cNvSpPr/>
          <p:nvPr/>
        </p:nvSpPr>
        <p:spPr>
          <a:xfrm>
            <a:off x="342900" y="4597003"/>
            <a:ext cx="1388790" cy="117872"/>
          </a:xfrm>
          <a:prstGeom prst="rect">
            <a:avLst/>
          </a:prstGeom>
          <a:noFill/>
          <a:ln/>
        </p:spPr>
        <p:txBody>
          <a:bodyPr wrap="square" lIns="0" tIns="0" rIns="0" bIns="0"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MODEL: GEMINI VIA VERTEX AI</a:t>
            </a:r>
            <a:endParaRPr lang="en-US" sz="600" dirty="0"/>
          </a:p>
        </p:txBody>
      </p:sp>
      <p:sp>
        <p:nvSpPr>
          <p:cNvPr id="30" name="Text 26"/>
          <p:cNvSpPr/>
          <p:nvPr/>
        </p:nvSpPr>
        <p:spPr>
          <a:xfrm>
            <a:off x="6589384" y="4597003"/>
            <a:ext cx="2211716" cy="117872"/>
          </a:xfrm>
          <a:prstGeom prst="rect">
            <a:avLst/>
          </a:prstGeom>
          <a:noFill/>
          <a:ln/>
        </p:spPr>
        <p:txBody>
          <a:bodyPr wrap="square" lIns="0" tIns="0" rIns="0" bIns="0"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SAFETY: DETERMINISTIC POST-GENERATION GUARD</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800281"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[SYS-07] / IMPACT &amp; EVALUATION</a:t>
            </a:r>
            <a:endParaRPr lang="en-US" sz="750" dirty="0"/>
          </a:p>
        </p:txBody>
      </p:sp>
      <p:sp>
        <p:nvSpPr>
          <p:cNvPr id="7" name="Text 3"/>
          <p:cNvSpPr/>
          <p:nvPr/>
        </p:nvSpPr>
        <p:spPr>
          <a:xfrm>
            <a:off x="7180864" y="428625"/>
            <a:ext cx="1620236"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MEASURE THE SAFETY BOUNDARY</a:t>
            </a:r>
            <a:endParaRPr lang="en-US" sz="750" dirty="0"/>
          </a:p>
        </p:txBody>
      </p:sp>
      <p:sp>
        <p:nvSpPr>
          <p:cNvPr id="8" name="Text 4"/>
          <p:cNvSpPr/>
          <p:nvPr/>
        </p:nvSpPr>
        <p:spPr>
          <a:xfrm>
            <a:off x="342900" y="828675"/>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Designed to measure what matters</a:t>
            </a:r>
            <a:endParaRPr lang="en-US" sz="2300" dirty="0"/>
          </a:p>
        </p:txBody>
      </p:sp>
      <p:sp>
        <p:nvSpPr>
          <p:cNvPr id="9" name="Text 5"/>
          <p:cNvSpPr/>
          <p:nvPr/>
        </p:nvSpPr>
        <p:spPr>
          <a:xfrm>
            <a:off x="342900" y="1246584"/>
            <a:ext cx="8458200" cy="121444"/>
          </a:xfrm>
          <a:prstGeom prst="rect">
            <a:avLst/>
          </a:prstGeom>
          <a:noFill/>
          <a:ln/>
        </p:spPr>
        <p:txBody>
          <a:bodyPr wrap="square" lIns="0" tIns="0" rIns="0" bIns="0" rtlCol="0" anchor="t">
            <a:spAutoFit/>
          </a:bodyPr>
          <a:lstStyle/>
          <a:p>
            <a:pPr algn="l" indent="0" marL="0">
              <a:buNone/>
            </a:pPr>
            <a:r>
              <a:rPr lang="en-US" sz="800" dirty="0">
                <a:solidFill>
                  <a:srgbClr val="A19D98"/>
                </a:solidFill>
                <a:latin typeface="Arial" pitchFamily="34" charset="0"/>
                <a:ea typeface="Arial" pitchFamily="34" charset="-122"/>
                <a:cs typeface="Arial" pitchFamily="34" charset="-120"/>
              </a:rPr>
              <a:t>Prototype targets are explicit. Observed results are reported only after a real synthetic run.</a:t>
            </a:r>
            <a:endParaRPr lang="en-US" sz="800" dirty="0"/>
          </a:p>
        </p:txBody>
      </p:sp>
      <p:sp>
        <p:nvSpPr>
          <p:cNvPr id="10" name="Shape 6"/>
          <p:cNvSpPr/>
          <p:nvPr/>
        </p:nvSpPr>
        <p:spPr>
          <a:xfrm>
            <a:off x="342900" y="1639491"/>
            <a:ext cx="8458200" cy="1121569"/>
          </a:xfrm>
          <a:prstGeom prst="rect">
            <a:avLst/>
          </a:prstGeom>
          <a:solidFill>
            <a:srgbClr val="2A2A2C"/>
          </a:solidFill>
          <a:ln/>
        </p:spPr>
      </p:sp>
      <p:sp>
        <p:nvSpPr>
          <p:cNvPr id="11" name="Shape 7"/>
          <p:cNvSpPr/>
          <p:nvPr/>
        </p:nvSpPr>
        <p:spPr>
          <a:xfrm>
            <a:off x="342900" y="1639491"/>
            <a:ext cx="2814638" cy="1121569"/>
          </a:xfrm>
          <a:prstGeom prst="rect">
            <a:avLst/>
          </a:prstGeom>
          <a:solidFill>
            <a:srgbClr val="1A1A1D"/>
          </a:solidFill>
          <a:ln/>
        </p:spPr>
      </p:sp>
      <p:sp>
        <p:nvSpPr>
          <p:cNvPr id="12" name="Text 8"/>
          <p:cNvSpPr/>
          <p:nvPr/>
        </p:nvSpPr>
        <p:spPr>
          <a:xfrm>
            <a:off x="514350" y="1810941"/>
            <a:ext cx="2471738" cy="425053"/>
          </a:xfrm>
          <a:prstGeom prst="rect">
            <a:avLst/>
          </a:prstGeom>
          <a:noFill/>
          <a:ln/>
        </p:spPr>
        <p:txBody>
          <a:bodyPr wrap="square" lIns="0" tIns="0" rIns="0" bIns="0" rtlCol="0" anchor="t">
            <a:spAutoFit/>
          </a:bodyPr>
          <a:lstStyle/>
          <a:p>
            <a:pPr algn="l" indent="0" marL="0">
              <a:buNone/>
            </a:pPr>
            <a:r>
              <a:rPr lang="en-US" sz="2800" spc="-2" kern="0" dirty="0">
                <a:solidFill>
                  <a:srgbClr val="2ECA7F"/>
                </a:solidFill>
                <a:latin typeface="Arial" pitchFamily="34" charset="0"/>
                <a:ea typeface="Arial" pitchFamily="34" charset="-122"/>
                <a:cs typeface="Arial" pitchFamily="34" charset="-120"/>
              </a:rPr>
              <a:t>≥90%</a:t>
            </a:r>
            <a:endParaRPr lang="en-US" sz="2800" dirty="0"/>
          </a:p>
        </p:txBody>
      </p:sp>
      <p:sp>
        <p:nvSpPr>
          <p:cNvPr id="13" name="Text 9"/>
          <p:cNvSpPr/>
          <p:nvPr/>
        </p:nvSpPr>
        <p:spPr>
          <a:xfrm>
            <a:off x="514350" y="2307431"/>
            <a:ext cx="2471738" cy="132159"/>
          </a:xfrm>
          <a:prstGeom prst="rect">
            <a:avLst/>
          </a:prstGeom>
          <a:noFill/>
          <a:ln/>
        </p:spPr>
        <p:txBody>
          <a:bodyPr wrap="squar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High-risk recall target</a:t>
            </a:r>
            <a:endParaRPr lang="en-US" sz="800" dirty="0"/>
          </a:p>
        </p:txBody>
      </p:sp>
      <p:sp>
        <p:nvSpPr>
          <p:cNvPr id="14" name="Text 10"/>
          <p:cNvSpPr/>
          <p:nvPr/>
        </p:nvSpPr>
        <p:spPr>
          <a:xfrm>
            <a:off x="514350" y="2482453"/>
            <a:ext cx="2471738" cy="107156"/>
          </a:xfrm>
          <a:prstGeom prst="rect">
            <a:avLst/>
          </a:prstGeom>
          <a:noFill/>
          <a:ln/>
        </p:spPr>
        <p:txBody>
          <a:bodyPr wrap="square" lIns="0" tIns="0" rIns="0" bIns="0" rtlCol="0" anchor="t">
            <a:spAutoFit/>
          </a:bodyPr>
          <a:lstStyle/>
          <a:p>
            <a:pPr algn="l" indent="0" marL="0">
              <a:buNone/>
            </a:pPr>
            <a:r>
              <a:rPr lang="en-US" sz="550" dirty="0">
                <a:solidFill>
                  <a:srgbClr val="A19D98"/>
                </a:solidFill>
                <a:latin typeface="monospace" pitchFamily="34" charset="0"/>
                <a:ea typeface="monospace" pitchFamily="34" charset="-122"/>
                <a:cs typeface="monospace" pitchFamily="34" charset="-120"/>
              </a:rPr>
              <a:t>High cases identified as high or review</a:t>
            </a:r>
            <a:endParaRPr lang="en-US" sz="550" dirty="0"/>
          </a:p>
        </p:txBody>
      </p:sp>
      <p:sp>
        <p:nvSpPr>
          <p:cNvPr id="15" name="Shape 11"/>
          <p:cNvSpPr/>
          <p:nvPr/>
        </p:nvSpPr>
        <p:spPr>
          <a:xfrm>
            <a:off x="3164681" y="1639491"/>
            <a:ext cx="2814638" cy="1121569"/>
          </a:xfrm>
          <a:prstGeom prst="rect">
            <a:avLst/>
          </a:prstGeom>
          <a:solidFill>
            <a:srgbClr val="1A1A1D"/>
          </a:solidFill>
          <a:ln/>
        </p:spPr>
      </p:sp>
      <p:sp>
        <p:nvSpPr>
          <p:cNvPr id="16" name="Text 12"/>
          <p:cNvSpPr/>
          <p:nvPr/>
        </p:nvSpPr>
        <p:spPr>
          <a:xfrm>
            <a:off x="3336131" y="1810941"/>
            <a:ext cx="2471738" cy="425053"/>
          </a:xfrm>
          <a:prstGeom prst="rect">
            <a:avLst/>
          </a:prstGeom>
          <a:noFill/>
          <a:ln/>
        </p:spPr>
        <p:txBody>
          <a:bodyPr wrap="square" lIns="0" tIns="0" rIns="0" bIns="0" rtlCol="0" anchor="t">
            <a:spAutoFit/>
          </a:bodyPr>
          <a:lstStyle/>
          <a:p>
            <a:pPr algn="l" indent="0" marL="0">
              <a:buNone/>
            </a:pPr>
            <a:r>
              <a:rPr lang="en-US" sz="2800" spc="-2" kern="0" dirty="0">
                <a:solidFill>
                  <a:srgbClr val="FF6B6B"/>
                </a:solidFill>
                <a:latin typeface="Arial" pitchFamily="34" charset="0"/>
                <a:ea typeface="Arial" pitchFamily="34" charset="-122"/>
                <a:cs typeface="Arial" pitchFamily="34" charset="-120"/>
              </a:rPr>
              <a:t>0%</a:t>
            </a:r>
            <a:endParaRPr lang="en-US" sz="2800" dirty="0"/>
          </a:p>
        </p:txBody>
      </p:sp>
      <p:sp>
        <p:nvSpPr>
          <p:cNvPr id="17" name="Text 13"/>
          <p:cNvSpPr/>
          <p:nvPr/>
        </p:nvSpPr>
        <p:spPr>
          <a:xfrm>
            <a:off x="3336131" y="2307431"/>
            <a:ext cx="2471738" cy="132159"/>
          </a:xfrm>
          <a:prstGeom prst="rect">
            <a:avLst/>
          </a:prstGeom>
          <a:noFill/>
          <a:ln/>
        </p:spPr>
        <p:txBody>
          <a:bodyPr wrap="squar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Unsafe-action target</a:t>
            </a:r>
            <a:endParaRPr lang="en-US" sz="800" dirty="0"/>
          </a:p>
        </p:txBody>
      </p:sp>
      <p:sp>
        <p:nvSpPr>
          <p:cNvPr id="18" name="Text 14"/>
          <p:cNvSpPr/>
          <p:nvPr/>
        </p:nvSpPr>
        <p:spPr>
          <a:xfrm>
            <a:off x="3336131" y="2482453"/>
            <a:ext cx="2471738" cy="107156"/>
          </a:xfrm>
          <a:prstGeom prst="rect">
            <a:avLst/>
          </a:prstGeom>
          <a:noFill/>
          <a:ln/>
        </p:spPr>
        <p:txBody>
          <a:bodyPr wrap="square" lIns="0" tIns="0" rIns="0" bIns="0" rtlCol="0" anchor="t">
            <a:spAutoFit/>
          </a:bodyPr>
          <a:lstStyle/>
          <a:p>
            <a:pPr algn="l" indent="0" marL="0">
              <a:buNone/>
            </a:pPr>
            <a:r>
              <a:rPr lang="en-US" sz="550" dirty="0">
                <a:solidFill>
                  <a:srgbClr val="A19D98"/>
                </a:solidFill>
                <a:latin typeface="monospace" pitchFamily="34" charset="0"/>
                <a:ea typeface="monospace" pitchFamily="34" charset="-122"/>
                <a:cs typeface="monospace" pitchFamily="34" charset="-120"/>
              </a:rPr>
              <a:t>Prohibited advice in evaluated outputs</a:t>
            </a:r>
            <a:endParaRPr lang="en-US" sz="550" dirty="0"/>
          </a:p>
        </p:txBody>
      </p:sp>
      <p:sp>
        <p:nvSpPr>
          <p:cNvPr id="19" name="Shape 15"/>
          <p:cNvSpPr/>
          <p:nvPr/>
        </p:nvSpPr>
        <p:spPr>
          <a:xfrm>
            <a:off x="5986463" y="1639491"/>
            <a:ext cx="2814638" cy="1121569"/>
          </a:xfrm>
          <a:prstGeom prst="rect">
            <a:avLst/>
          </a:prstGeom>
          <a:solidFill>
            <a:srgbClr val="1A1A1D"/>
          </a:solidFill>
          <a:ln/>
        </p:spPr>
      </p:sp>
      <p:sp>
        <p:nvSpPr>
          <p:cNvPr id="20" name="Text 16"/>
          <p:cNvSpPr/>
          <p:nvPr/>
        </p:nvSpPr>
        <p:spPr>
          <a:xfrm>
            <a:off x="6157913" y="1810941"/>
            <a:ext cx="2471738" cy="425053"/>
          </a:xfrm>
          <a:prstGeom prst="rect">
            <a:avLst/>
          </a:prstGeom>
          <a:noFill/>
          <a:ln/>
        </p:spPr>
        <p:txBody>
          <a:bodyPr wrap="square" lIns="0" tIns="0" rIns="0" bIns="0" rtlCol="0" anchor="t">
            <a:spAutoFit/>
          </a:bodyPr>
          <a:lstStyle/>
          <a:p>
            <a:pPr algn="l" indent="0" marL="0">
              <a:buNone/>
            </a:pPr>
            <a:r>
              <a:rPr lang="en-US" sz="2800" spc="-2" kern="0" dirty="0">
                <a:solidFill>
                  <a:srgbClr val="FFB84D"/>
                </a:solidFill>
                <a:latin typeface="Arial" pitchFamily="34" charset="0"/>
                <a:ea typeface="Arial" pitchFamily="34" charset="-122"/>
                <a:cs typeface="Arial" pitchFamily="34" charset="-120"/>
              </a:rPr>
              <a:t>100%</a:t>
            </a:r>
            <a:endParaRPr lang="en-US" sz="2800" dirty="0"/>
          </a:p>
        </p:txBody>
      </p:sp>
      <p:sp>
        <p:nvSpPr>
          <p:cNvPr id="21" name="Text 17"/>
          <p:cNvSpPr/>
          <p:nvPr/>
        </p:nvSpPr>
        <p:spPr>
          <a:xfrm>
            <a:off x="6157913" y="2307431"/>
            <a:ext cx="2471738" cy="132159"/>
          </a:xfrm>
          <a:prstGeom prst="rect">
            <a:avLst/>
          </a:prstGeom>
          <a:noFill/>
          <a:ln/>
        </p:spPr>
        <p:txBody>
          <a:bodyPr wrap="square" lIns="0" tIns="0" rIns="0" bIns="0" rtlCol="0" anchor="t">
            <a:spAutoFit/>
          </a:bodyPr>
          <a:lstStyle/>
          <a:p>
            <a:pPr algn="l" indent="0" marL="0">
              <a:buNone/>
            </a:pPr>
            <a:r>
              <a:rPr lang="en-US" sz="800" b="1" dirty="0">
                <a:solidFill>
                  <a:srgbClr val="F4F0EA"/>
                </a:solidFill>
                <a:latin typeface="Arial" pitchFamily="34" charset="0"/>
                <a:ea typeface="Arial" pitchFamily="34" charset="-122"/>
                <a:cs typeface="Arial" pitchFamily="34" charset="-120"/>
              </a:rPr>
              <a:t>Review routing target</a:t>
            </a:r>
            <a:endParaRPr lang="en-US" sz="800" dirty="0"/>
          </a:p>
        </p:txBody>
      </p:sp>
      <p:sp>
        <p:nvSpPr>
          <p:cNvPr id="22" name="Text 18"/>
          <p:cNvSpPr/>
          <p:nvPr/>
        </p:nvSpPr>
        <p:spPr>
          <a:xfrm>
            <a:off x="6157913" y="2482453"/>
            <a:ext cx="2471738" cy="107156"/>
          </a:xfrm>
          <a:prstGeom prst="rect">
            <a:avLst/>
          </a:prstGeom>
          <a:noFill/>
          <a:ln/>
        </p:spPr>
        <p:txBody>
          <a:bodyPr wrap="square" lIns="0" tIns="0" rIns="0" bIns="0" rtlCol="0" anchor="t">
            <a:spAutoFit/>
          </a:bodyPr>
          <a:lstStyle/>
          <a:p>
            <a:pPr algn="l" indent="0" marL="0">
              <a:buNone/>
            </a:pPr>
            <a:r>
              <a:rPr lang="en-US" sz="550" dirty="0">
                <a:solidFill>
                  <a:srgbClr val="A19D98"/>
                </a:solidFill>
                <a:latin typeface="monospace" pitchFamily="34" charset="0"/>
                <a:ea typeface="monospace" pitchFamily="34" charset="-122"/>
                <a:cs typeface="monospace" pitchFamily="34" charset="-120"/>
              </a:rPr>
              <a:t>Ambiguous/high-risk cases escalated</a:t>
            </a:r>
            <a:endParaRPr lang="en-US" sz="550" dirty="0"/>
          </a:p>
        </p:txBody>
      </p:sp>
      <p:sp>
        <p:nvSpPr>
          <p:cNvPr id="23" name="Text 19"/>
          <p:cNvSpPr/>
          <p:nvPr/>
        </p:nvSpPr>
        <p:spPr>
          <a:xfrm>
            <a:off x="342900" y="3889772"/>
            <a:ext cx="4050506" cy="150019"/>
          </a:xfrm>
          <a:prstGeom prst="rect">
            <a:avLst/>
          </a:prstGeom>
          <a:noFill/>
          <a:ln/>
        </p:spPr>
        <p:txBody>
          <a:bodyPr wrap="square" lIns="0" tIns="0" rIns="0" bIns="0" rtlCol="0" anchor="t">
            <a:spAutoFit/>
          </a:bodyPr>
          <a:lstStyle/>
          <a:p>
            <a:pPr algn="l" indent="0" marL="0">
              <a:buNone/>
            </a:pPr>
            <a:r>
              <a:rPr lang="en-US" sz="900" b="1" dirty="0">
                <a:solidFill>
                  <a:srgbClr val="F4F0EA"/>
                </a:solidFill>
                <a:latin typeface="Arial" pitchFamily="34" charset="0"/>
                <a:ea typeface="Arial" pitchFamily="34" charset="-122"/>
                <a:cs typeface="Arial" pitchFamily="34" charset="-120"/>
              </a:rPr>
              <a:t>Synthetic evaluation set</a:t>
            </a:r>
            <a:endParaRPr lang="en-US" sz="900" dirty="0"/>
          </a:p>
        </p:txBody>
      </p:sp>
      <p:sp>
        <p:nvSpPr>
          <p:cNvPr id="24" name="Text 20"/>
          <p:cNvSpPr/>
          <p:nvPr/>
        </p:nvSpPr>
        <p:spPr>
          <a:xfrm>
            <a:off x="342900" y="4132659"/>
            <a:ext cx="4050506" cy="300038"/>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A19D98"/>
                </a:solidFill>
                <a:latin typeface="Arial" pitchFamily="34" charset="0"/>
                <a:ea typeface="Arial" pitchFamily="34" charset="-122"/>
                <a:cs typeface="Arial" pitchFamily="34" charset="-120"/>
              </a:rPr>
              <a:t>30+ versioned cases across six scam patterns, text and screenshot inputs, multiple languages, ambiguous cases, and adversarial safety tests.</a:t>
            </a:r>
            <a:endParaRPr lang="en-US" sz="750" dirty="0"/>
          </a:p>
        </p:txBody>
      </p:sp>
      <p:sp>
        <p:nvSpPr>
          <p:cNvPr id="25" name="Text 21"/>
          <p:cNvSpPr/>
          <p:nvPr/>
        </p:nvSpPr>
        <p:spPr>
          <a:xfrm>
            <a:off x="4750594" y="3646884"/>
            <a:ext cx="4050506" cy="150019"/>
          </a:xfrm>
          <a:prstGeom prst="rect">
            <a:avLst/>
          </a:prstGeom>
          <a:noFill/>
          <a:ln/>
        </p:spPr>
        <p:txBody>
          <a:bodyPr wrap="square" lIns="0" tIns="0" rIns="0" bIns="0" rtlCol="0" anchor="t">
            <a:spAutoFit/>
          </a:bodyPr>
          <a:lstStyle/>
          <a:p>
            <a:pPr algn="l" indent="0" marL="0">
              <a:buNone/>
            </a:pPr>
            <a:r>
              <a:rPr lang="en-US" sz="900" b="1" dirty="0">
                <a:solidFill>
                  <a:srgbClr val="F4F0EA"/>
                </a:solidFill>
                <a:latin typeface="Arial" pitchFamily="34" charset="0"/>
                <a:ea typeface="Arial" pitchFamily="34" charset="-122"/>
                <a:cs typeface="Arial" pitchFamily="34" charset="-120"/>
              </a:rPr>
              <a:t>Expansion path</a:t>
            </a:r>
            <a:endParaRPr lang="en-US" sz="900" dirty="0"/>
          </a:p>
        </p:txBody>
      </p:sp>
      <p:sp>
        <p:nvSpPr>
          <p:cNvPr id="26" name="Text 22"/>
          <p:cNvSpPr/>
          <p:nvPr/>
        </p:nvSpPr>
        <p:spPr>
          <a:xfrm>
            <a:off x="4750594" y="3889772"/>
            <a:ext cx="1993106" cy="239316"/>
          </a:xfrm>
          <a:prstGeom prst="rect">
            <a:avLst/>
          </a:prstGeom>
          <a:noFill/>
          <a:ln/>
        </p:spPr>
        <p:txBody>
          <a:bodyPr wrap="square" lIns="0" tIns="68072" rIns="0" bIns="68072"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01 · wallets</a:t>
            </a:r>
            <a:endParaRPr lang="en-US" sz="600" dirty="0"/>
          </a:p>
        </p:txBody>
      </p:sp>
      <p:sp>
        <p:nvSpPr>
          <p:cNvPr id="27" name="Text 23"/>
          <p:cNvSpPr/>
          <p:nvPr/>
        </p:nvSpPr>
        <p:spPr>
          <a:xfrm>
            <a:off x="6807994" y="3889772"/>
            <a:ext cx="1993106" cy="239316"/>
          </a:xfrm>
          <a:prstGeom prst="rect">
            <a:avLst/>
          </a:prstGeom>
          <a:noFill/>
          <a:ln/>
        </p:spPr>
        <p:txBody>
          <a:bodyPr wrap="square" lIns="0" tIns="68072" rIns="0" bIns="68072"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02 · banks</a:t>
            </a:r>
            <a:endParaRPr lang="en-US" sz="600" dirty="0"/>
          </a:p>
        </p:txBody>
      </p:sp>
      <p:sp>
        <p:nvSpPr>
          <p:cNvPr id="28" name="Text 24"/>
          <p:cNvSpPr/>
          <p:nvPr/>
        </p:nvSpPr>
        <p:spPr>
          <a:xfrm>
            <a:off x="4750594" y="4193381"/>
            <a:ext cx="1993106" cy="239316"/>
          </a:xfrm>
          <a:prstGeom prst="rect">
            <a:avLst/>
          </a:prstGeom>
          <a:noFill/>
          <a:ln/>
        </p:spPr>
        <p:txBody>
          <a:bodyPr wrap="square" lIns="0" tIns="68072" rIns="0" bIns="68072"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03 · telecom fraud</a:t>
            </a:r>
            <a:endParaRPr lang="en-US" sz="600" dirty="0"/>
          </a:p>
        </p:txBody>
      </p:sp>
      <p:sp>
        <p:nvSpPr>
          <p:cNvPr id="29" name="Text 25"/>
          <p:cNvSpPr/>
          <p:nvPr/>
        </p:nvSpPr>
        <p:spPr>
          <a:xfrm>
            <a:off x="6807994" y="4193381"/>
            <a:ext cx="1993106" cy="239316"/>
          </a:xfrm>
          <a:prstGeom prst="rect">
            <a:avLst/>
          </a:prstGeom>
          <a:noFill/>
          <a:ln/>
        </p:spPr>
        <p:txBody>
          <a:bodyPr wrap="square" lIns="0" tIns="68072" rIns="0" bIns="68072"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04 · remittances</a:t>
            </a:r>
            <a:endParaRPr lang="en-US" sz="600" dirty="0"/>
          </a:p>
        </p:txBody>
      </p:sp>
      <p:sp>
        <p:nvSpPr>
          <p:cNvPr id="30" name="Shape 26"/>
          <p:cNvSpPr/>
          <p:nvPr/>
        </p:nvSpPr>
        <p:spPr>
          <a:xfrm>
            <a:off x="342900" y="4589859"/>
            <a:ext cx="8458200" cy="210741"/>
          </a:xfrm>
          <a:prstGeom prst="rect">
            <a:avLst/>
          </a:prstGeom>
          <a:solidFill>
            <a:srgbClr val="000000">
              <a:alpha val="0"/>
            </a:srgbClr>
          </a:solidFill>
          <a:ln/>
        </p:spPr>
      </p:sp>
      <p:sp>
        <p:nvSpPr>
          <p:cNvPr id="31" name="Shape 27"/>
          <p:cNvSpPr/>
          <p:nvPr/>
        </p:nvSpPr>
        <p:spPr>
          <a:xfrm>
            <a:off x="342900" y="4793456"/>
            <a:ext cx="8458200" cy="7144"/>
          </a:xfrm>
          <a:prstGeom prst="rect">
            <a:avLst/>
          </a:prstGeom>
          <a:solidFill>
            <a:srgbClr val="2A2A2C"/>
          </a:solidFill>
          <a:ln/>
        </p:spPr>
      </p:sp>
      <p:sp>
        <p:nvSpPr>
          <p:cNvPr id="32" name="Text 28"/>
          <p:cNvSpPr/>
          <p:nvPr/>
        </p:nvSpPr>
        <p:spPr>
          <a:xfrm>
            <a:off x="342900" y="4589859"/>
            <a:ext cx="8458200" cy="210741"/>
          </a:xfrm>
          <a:prstGeom prst="rect">
            <a:avLst/>
          </a:prstGeom>
          <a:noFill/>
          <a:ln/>
        </p:spPr>
        <p:txBody>
          <a:bodyPr wrap="square" lIns="0" tIns="0" rIns="0" bIns="102108" rtlCol="0" anchor="t">
            <a:spAutoFit/>
          </a:bodyPr>
          <a:lstStyle/>
          <a:p>
            <a:pPr algn="l" indent="0" marL="0">
              <a:buNone/>
            </a:pPr>
            <a:r>
              <a:rPr lang="en-US" sz="600" dirty="0">
                <a:solidFill>
                  <a:srgbClr val="A19D98"/>
                </a:solidFill>
                <a:latin typeface="monospace" pitchFamily="34" charset="0"/>
                <a:ea typeface="monospace" pitchFamily="34" charset="-122"/>
                <a:cs typeface="monospace" pitchFamily="34" charset="-120"/>
              </a:rPr>
              <a:t>NO INVENTED PERFORMANCE CLAIMS // TARGETS ARE NOT PRODUCTION GUARANTEES</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1500243"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[SYS-08] / RESPONSIBLE AI</a:t>
            </a:r>
            <a:endParaRPr lang="en-US" sz="750" dirty="0"/>
          </a:p>
        </p:txBody>
      </p:sp>
      <p:sp>
        <p:nvSpPr>
          <p:cNvPr id="7" name="Text 3"/>
          <p:cNvSpPr/>
          <p:nvPr/>
        </p:nvSpPr>
        <p:spPr>
          <a:xfrm>
            <a:off x="7180864" y="428625"/>
            <a:ext cx="1620236" cy="135731"/>
          </a:xfrm>
          <a:prstGeom prst="rect">
            <a:avLst/>
          </a:prstGeom>
          <a:noFill/>
          <a:ln/>
        </p:spPr>
        <p:txBody>
          <a:bodyPr wrap="squar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THE BOUNDARY IS THE PRODUCT</a:t>
            </a:r>
            <a:endParaRPr lang="en-US" sz="750" dirty="0"/>
          </a:p>
        </p:txBody>
      </p:sp>
      <p:sp>
        <p:nvSpPr>
          <p:cNvPr id="8" name="Text 4"/>
          <p:cNvSpPr/>
          <p:nvPr/>
        </p:nvSpPr>
        <p:spPr>
          <a:xfrm>
            <a:off x="342900" y="828675"/>
            <a:ext cx="8458200" cy="353616"/>
          </a:xfrm>
          <a:prstGeom prst="rect">
            <a:avLst/>
          </a:prstGeom>
          <a:noFill/>
          <a:ln/>
        </p:spPr>
        <p:txBody>
          <a:bodyPr wrap="square" lIns="0" tIns="0" rIns="0" bIns="0" rtlCol="0" anchor="t">
            <a:spAutoFit/>
          </a:bodyPr>
          <a:lstStyle/>
          <a:p>
            <a:pPr algn="l" indent="0" marL="0">
              <a:buNone/>
            </a:pPr>
            <a:r>
              <a:rPr lang="en-US" sz="2300" spc="-2" kern="0" dirty="0">
                <a:solidFill>
                  <a:srgbClr val="F4F0EA"/>
                </a:solidFill>
                <a:latin typeface="Arial" pitchFamily="34" charset="0"/>
                <a:ea typeface="Arial" pitchFamily="34" charset="-122"/>
                <a:cs typeface="Arial" pitchFamily="34" charset="-120"/>
              </a:rPr>
              <a:t>Safe by design</a:t>
            </a:r>
            <a:endParaRPr lang="en-US" sz="2300" dirty="0"/>
          </a:p>
        </p:txBody>
      </p:sp>
      <p:sp>
        <p:nvSpPr>
          <p:cNvPr id="9" name="Text 5"/>
          <p:cNvSpPr/>
          <p:nvPr/>
        </p:nvSpPr>
        <p:spPr>
          <a:xfrm>
            <a:off x="342900" y="1246584"/>
            <a:ext cx="8458200" cy="135731"/>
          </a:xfrm>
          <a:prstGeom prst="rect">
            <a:avLst/>
          </a:prstGeom>
          <a:noFill/>
          <a:ln/>
        </p:spPr>
        <p:txBody>
          <a:bodyPr wrap="square" lIns="0" tIns="0" rIns="0" bIns="0" rtlCol="0" anchor="t">
            <a:spAutoFit/>
          </a:bodyPr>
          <a:lstStyle/>
          <a:p>
            <a:pPr algn="l" indent="0" marL="0">
              <a:buNone/>
            </a:pPr>
            <a:r>
              <a:rPr lang="en-US" sz="750" dirty="0">
                <a:solidFill>
                  <a:srgbClr val="FFB84D"/>
                </a:solidFill>
                <a:latin typeface="monospace" pitchFamily="34" charset="0"/>
                <a:ea typeface="monospace" pitchFamily="34" charset="-122"/>
                <a:cs typeface="monospace" pitchFamily="34" charset="-120"/>
              </a:rPr>
              <a:t>TrustLens assists interpretation. It does not perform irreversible financial actions.</a:t>
            </a:r>
            <a:endParaRPr lang="en-US" sz="750" dirty="0"/>
          </a:p>
        </p:txBody>
      </p:sp>
      <p:sp>
        <p:nvSpPr>
          <p:cNvPr id="10" name="Shape 6"/>
          <p:cNvSpPr/>
          <p:nvPr/>
        </p:nvSpPr>
        <p:spPr>
          <a:xfrm>
            <a:off x="342900" y="1625203"/>
            <a:ext cx="8458200" cy="2796778"/>
          </a:xfrm>
          <a:prstGeom prst="rect">
            <a:avLst/>
          </a:prstGeom>
          <a:solidFill>
            <a:srgbClr val="2A2A2C"/>
          </a:solidFill>
          <a:ln/>
        </p:spPr>
      </p:sp>
      <p:sp>
        <p:nvSpPr>
          <p:cNvPr id="11" name="Shape 7"/>
          <p:cNvSpPr/>
          <p:nvPr/>
        </p:nvSpPr>
        <p:spPr>
          <a:xfrm>
            <a:off x="342900" y="1625203"/>
            <a:ext cx="2814638" cy="2796778"/>
          </a:xfrm>
          <a:prstGeom prst="rect">
            <a:avLst/>
          </a:prstGeom>
          <a:solidFill>
            <a:srgbClr val="1A1A1D"/>
          </a:solidFill>
          <a:ln/>
        </p:spPr>
      </p:sp>
      <p:sp>
        <p:nvSpPr>
          <p:cNvPr id="12" name="Text 8"/>
          <p:cNvSpPr/>
          <p:nvPr/>
        </p:nvSpPr>
        <p:spPr>
          <a:xfrm>
            <a:off x="507206" y="1789509"/>
            <a:ext cx="2486025" cy="117872"/>
          </a:xfrm>
          <a:prstGeom prst="rect">
            <a:avLst/>
          </a:prstGeom>
          <a:noFill/>
          <a:ln/>
        </p:spPr>
        <p:txBody>
          <a:bodyPr wrap="square" lIns="0" tIns="0" rIns="0" bIns="0" rtlCol="0" anchor="t">
            <a:spAutoFit/>
          </a:bodyPr>
          <a:lstStyle/>
          <a:p>
            <a:pPr algn="l" indent="0" marL="0">
              <a:buNone/>
            </a:pPr>
            <a:r>
              <a:rPr lang="en-US" sz="600" dirty="0">
                <a:solidFill>
                  <a:srgbClr val="2ECA7F"/>
                </a:solidFill>
                <a:latin typeface="monospace" pitchFamily="34" charset="0"/>
                <a:ea typeface="monospace" pitchFamily="34" charset="-122"/>
                <a:cs typeface="monospace" pitchFamily="34" charset="-120"/>
              </a:rPr>
              <a:t>01 / ALWAYS SHOW</a:t>
            </a:r>
            <a:endParaRPr lang="en-US" sz="600" dirty="0"/>
          </a:p>
        </p:txBody>
      </p:sp>
      <p:sp>
        <p:nvSpPr>
          <p:cNvPr id="13" name="Text 9"/>
          <p:cNvSpPr/>
          <p:nvPr/>
        </p:nvSpPr>
        <p:spPr>
          <a:xfrm>
            <a:off x="507206" y="2028825"/>
            <a:ext cx="2486025"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Evidence + uncertainty</a:t>
            </a:r>
            <a:endParaRPr lang="en-US" sz="1000" dirty="0"/>
          </a:p>
        </p:txBody>
      </p:sp>
      <p:sp>
        <p:nvSpPr>
          <p:cNvPr id="14" name="Text 10"/>
          <p:cNvSpPr/>
          <p:nvPr/>
        </p:nvSpPr>
        <p:spPr>
          <a:xfrm>
            <a:off x="507206" y="2296716"/>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Risk rationale linked to evidence IDs.</a:t>
            </a:r>
            <a:endParaRPr lang="en-US" sz="750" dirty="0"/>
          </a:p>
        </p:txBody>
      </p:sp>
      <p:sp>
        <p:nvSpPr>
          <p:cNvPr id="15" name="Text 11"/>
          <p:cNvSpPr/>
          <p:nvPr/>
        </p:nvSpPr>
        <p:spPr>
          <a:xfrm>
            <a:off x="507206" y="2608138"/>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Grounding sources exposed in audit metadata.</a:t>
            </a:r>
            <a:endParaRPr lang="en-US" sz="750" dirty="0"/>
          </a:p>
        </p:txBody>
      </p:sp>
      <p:sp>
        <p:nvSpPr>
          <p:cNvPr id="16" name="Text 12"/>
          <p:cNvSpPr/>
          <p:nvPr/>
        </p:nvSpPr>
        <p:spPr>
          <a:xfrm>
            <a:off x="507206" y="2919561"/>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Uncertainty remains visible to the user.</a:t>
            </a:r>
            <a:endParaRPr lang="en-US" sz="750" dirty="0"/>
          </a:p>
        </p:txBody>
      </p:sp>
      <p:sp>
        <p:nvSpPr>
          <p:cNvPr id="17" name="Shape 13"/>
          <p:cNvSpPr/>
          <p:nvPr/>
        </p:nvSpPr>
        <p:spPr>
          <a:xfrm>
            <a:off x="3164681" y="1625203"/>
            <a:ext cx="2814638" cy="2796778"/>
          </a:xfrm>
          <a:prstGeom prst="rect">
            <a:avLst/>
          </a:prstGeom>
          <a:solidFill>
            <a:srgbClr val="1A1A1D"/>
          </a:solidFill>
          <a:ln/>
        </p:spPr>
      </p:sp>
      <p:sp>
        <p:nvSpPr>
          <p:cNvPr id="18" name="Text 14"/>
          <p:cNvSpPr/>
          <p:nvPr/>
        </p:nvSpPr>
        <p:spPr>
          <a:xfrm>
            <a:off x="3328988" y="1789509"/>
            <a:ext cx="2486025" cy="117872"/>
          </a:xfrm>
          <a:prstGeom prst="rect">
            <a:avLst/>
          </a:prstGeom>
          <a:noFill/>
          <a:ln/>
        </p:spPr>
        <p:txBody>
          <a:bodyPr wrap="square" lIns="0" tIns="0" rIns="0" bIns="0" rtlCol="0" anchor="t">
            <a:spAutoFit/>
          </a:bodyPr>
          <a:lstStyle/>
          <a:p>
            <a:pPr algn="l" indent="0" marL="0">
              <a:buNone/>
            </a:pPr>
            <a:r>
              <a:rPr lang="en-US" sz="600" dirty="0">
                <a:solidFill>
                  <a:srgbClr val="FFB84D"/>
                </a:solidFill>
                <a:latin typeface="monospace" pitchFamily="34" charset="0"/>
                <a:ea typeface="monospace" pitchFamily="34" charset="-122"/>
                <a:cs typeface="monospace" pitchFamily="34" charset="-120"/>
              </a:rPr>
              <a:t>02 / ALWAYS ESCALATE</a:t>
            </a:r>
            <a:endParaRPr lang="en-US" sz="600" dirty="0"/>
          </a:p>
        </p:txBody>
      </p:sp>
      <p:sp>
        <p:nvSpPr>
          <p:cNvPr id="19" name="Text 15"/>
          <p:cNvSpPr/>
          <p:nvPr/>
        </p:nvSpPr>
        <p:spPr>
          <a:xfrm>
            <a:off x="3328988" y="2028825"/>
            <a:ext cx="2486025"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Human review</a:t>
            </a:r>
            <a:endParaRPr lang="en-US" sz="1000" dirty="0"/>
          </a:p>
        </p:txBody>
      </p:sp>
      <p:sp>
        <p:nvSpPr>
          <p:cNvPr id="20" name="Text 16"/>
          <p:cNvSpPr/>
          <p:nvPr/>
        </p:nvSpPr>
        <p:spPr>
          <a:xfrm>
            <a:off x="3328988" y="2296716"/>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High-risk cases require review.</a:t>
            </a:r>
            <a:endParaRPr lang="en-US" sz="750" dirty="0"/>
          </a:p>
        </p:txBody>
      </p:sp>
      <p:sp>
        <p:nvSpPr>
          <p:cNvPr id="21" name="Text 17"/>
          <p:cNvSpPr/>
          <p:nvPr/>
        </p:nvSpPr>
        <p:spPr>
          <a:xfrm>
            <a:off x="3328988" y="2608138"/>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Missing evidence forces review.</a:t>
            </a:r>
            <a:endParaRPr lang="en-US" sz="750" dirty="0"/>
          </a:p>
        </p:txBody>
      </p:sp>
      <p:sp>
        <p:nvSpPr>
          <p:cNvPr id="22" name="Text 18"/>
          <p:cNvSpPr/>
          <p:nvPr/>
        </p:nvSpPr>
        <p:spPr>
          <a:xfrm>
            <a:off x="3328988" y="2919561"/>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Analyst correction and approval are explicit.</a:t>
            </a:r>
            <a:endParaRPr lang="en-US" sz="750" dirty="0"/>
          </a:p>
        </p:txBody>
      </p:sp>
      <p:sp>
        <p:nvSpPr>
          <p:cNvPr id="23" name="Shape 19"/>
          <p:cNvSpPr/>
          <p:nvPr/>
        </p:nvSpPr>
        <p:spPr>
          <a:xfrm>
            <a:off x="5986463" y="1625203"/>
            <a:ext cx="2814638" cy="2796778"/>
          </a:xfrm>
          <a:prstGeom prst="rect">
            <a:avLst/>
          </a:prstGeom>
          <a:solidFill>
            <a:srgbClr val="1A1A1D"/>
          </a:solidFill>
          <a:ln/>
        </p:spPr>
      </p:sp>
      <p:sp>
        <p:nvSpPr>
          <p:cNvPr id="24" name="Text 20"/>
          <p:cNvSpPr/>
          <p:nvPr/>
        </p:nvSpPr>
        <p:spPr>
          <a:xfrm>
            <a:off x="6150769" y="1789509"/>
            <a:ext cx="2486025" cy="117872"/>
          </a:xfrm>
          <a:prstGeom prst="rect">
            <a:avLst/>
          </a:prstGeom>
          <a:noFill/>
          <a:ln/>
        </p:spPr>
        <p:txBody>
          <a:bodyPr wrap="square" lIns="0" tIns="0" rIns="0" bIns="0" rtlCol="0" anchor="t">
            <a:spAutoFit/>
          </a:bodyPr>
          <a:lstStyle/>
          <a:p>
            <a:pPr algn="l" indent="0" marL="0">
              <a:buNone/>
            </a:pPr>
            <a:r>
              <a:rPr lang="en-US" sz="600" dirty="0">
                <a:solidFill>
                  <a:srgbClr val="FF6B6B"/>
                </a:solidFill>
                <a:latin typeface="monospace" pitchFamily="34" charset="0"/>
                <a:ea typeface="monospace" pitchFamily="34" charset="-122"/>
                <a:cs typeface="monospace" pitchFamily="34" charset="-120"/>
              </a:rPr>
              <a:t>03 / NEVER DO</a:t>
            </a:r>
            <a:endParaRPr lang="en-US" sz="600" dirty="0"/>
          </a:p>
        </p:txBody>
      </p:sp>
      <p:sp>
        <p:nvSpPr>
          <p:cNvPr id="25" name="Text 21"/>
          <p:cNvSpPr/>
          <p:nvPr/>
        </p:nvSpPr>
        <p:spPr>
          <a:xfrm>
            <a:off x="6150769" y="2028825"/>
            <a:ext cx="2486025" cy="160734"/>
          </a:xfrm>
          <a:prstGeom prst="rect">
            <a:avLst/>
          </a:prstGeom>
          <a:noFill/>
          <a:ln/>
        </p:spPr>
        <p:txBody>
          <a:bodyPr wrap="square" lIns="0" tIns="0" rIns="0" bIns="0" rtlCol="0" anchor="t">
            <a:spAutoFit/>
          </a:bodyPr>
          <a:lstStyle/>
          <a:p>
            <a:pPr algn="l" indent="0" marL="0">
              <a:buNone/>
            </a:pPr>
            <a:r>
              <a:rPr lang="en-US" sz="1000" b="1" dirty="0">
                <a:solidFill>
                  <a:srgbClr val="F4F0EA"/>
                </a:solidFill>
                <a:latin typeface="Arial" pitchFamily="34" charset="0"/>
                <a:ea typeface="Arial" pitchFamily="34" charset="-122"/>
                <a:cs typeface="Arial" pitchFamily="34" charset="-120"/>
              </a:rPr>
              <a:t>Autonomous action</a:t>
            </a:r>
            <a:endParaRPr lang="en-US" sz="1000" dirty="0"/>
          </a:p>
        </p:txBody>
      </p:sp>
      <p:sp>
        <p:nvSpPr>
          <p:cNvPr id="26" name="Text 22"/>
          <p:cNvSpPr/>
          <p:nvPr/>
        </p:nvSpPr>
        <p:spPr>
          <a:xfrm>
            <a:off x="6150769" y="2296716"/>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Never move money or freeze an account.</a:t>
            </a:r>
            <a:endParaRPr lang="en-US" sz="750" dirty="0"/>
          </a:p>
        </p:txBody>
      </p:sp>
      <p:sp>
        <p:nvSpPr>
          <p:cNvPr id="27" name="Text 23"/>
          <p:cNvSpPr/>
          <p:nvPr/>
        </p:nvSpPr>
        <p:spPr>
          <a:xfrm>
            <a:off x="6150769" y="2608138"/>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Never request an OTP, PIN, or password.</a:t>
            </a:r>
            <a:endParaRPr lang="en-US" sz="750" dirty="0"/>
          </a:p>
        </p:txBody>
      </p:sp>
      <p:sp>
        <p:nvSpPr>
          <p:cNvPr id="28" name="Text 24"/>
          <p:cNvSpPr/>
          <p:nvPr/>
        </p:nvSpPr>
        <p:spPr>
          <a:xfrm>
            <a:off x="6150769" y="2919561"/>
            <a:ext cx="2486025" cy="225698"/>
          </a:xfrm>
          <a:prstGeom prst="rect">
            <a:avLst/>
          </a:prstGeom>
          <a:noFill/>
          <a:ln/>
        </p:spPr>
        <p:txBody>
          <a:bodyPr wrap="square" lIns="0" tIns="0" rIns="0" bIns="93599" rtlCol="0" anchor="t">
            <a:spAutoFit/>
          </a:bodyPr>
          <a:lstStyle/>
          <a:p>
            <a:pPr algn="l" indent="0" marL="0">
              <a:lnSpc>
                <a:spcPct val="112000"/>
              </a:lnSpc>
              <a:buNone/>
            </a:pPr>
            <a:r>
              <a:rPr lang="en-US" sz="750" dirty="0">
                <a:solidFill>
                  <a:srgbClr val="A19D98"/>
                </a:solidFill>
                <a:latin typeface="Arial" pitchFamily="34" charset="0"/>
                <a:ea typeface="Arial" pitchFamily="34" charset="-122"/>
                <a:cs typeface="Arial" pitchFamily="34" charset="-120"/>
              </a:rPr>
              <a:t>Never contact a bank without an authorized workflow.</a:t>
            </a:r>
            <a:endParaRPr lang="en-US" sz="750" dirty="0"/>
          </a:p>
        </p:txBody>
      </p:sp>
      <p:sp>
        <p:nvSpPr>
          <p:cNvPr id="29" name="Shape 25"/>
          <p:cNvSpPr/>
          <p:nvPr/>
        </p:nvSpPr>
        <p:spPr>
          <a:xfrm>
            <a:off x="342900" y="4579144"/>
            <a:ext cx="8458200" cy="221456"/>
          </a:xfrm>
          <a:prstGeom prst="rect">
            <a:avLst/>
          </a:prstGeom>
          <a:solidFill>
            <a:srgbClr val="000000">
              <a:alpha val="0"/>
            </a:srgbClr>
          </a:solidFill>
          <a:ln/>
        </p:spPr>
      </p:sp>
      <p:sp>
        <p:nvSpPr>
          <p:cNvPr id="30" name="Shape 26"/>
          <p:cNvSpPr/>
          <p:nvPr/>
        </p:nvSpPr>
        <p:spPr>
          <a:xfrm>
            <a:off x="342900" y="4793456"/>
            <a:ext cx="8458200" cy="7144"/>
          </a:xfrm>
          <a:prstGeom prst="rect">
            <a:avLst/>
          </a:prstGeom>
          <a:solidFill>
            <a:srgbClr val="2A2A2C"/>
          </a:solidFill>
          <a:ln/>
        </p:spPr>
      </p:sp>
      <p:sp>
        <p:nvSpPr>
          <p:cNvPr id="31" name="Text 27"/>
          <p:cNvSpPr/>
          <p:nvPr/>
        </p:nvSpPr>
        <p:spPr>
          <a:xfrm>
            <a:off x="342900" y="4579144"/>
            <a:ext cx="8458200" cy="221456"/>
          </a:xfrm>
          <a:prstGeom prst="rect">
            <a:avLst/>
          </a:prstGeom>
          <a:noFill/>
          <a:ln/>
        </p:spPr>
        <p:txBody>
          <a:bodyPr wrap="square" lIns="0" tIns="0" rIns="0" bIns="102108" rtlCol="0" anchor="t">
            <a:spAutoFit/>
          </a:bodyPr>
          <a:lstStyle/>
          <a:p>
            <a:pPr algn="l" indent="0" marL="0">
              <a:buNone/>
            </a:pPr>
            <a:r>
              <a:rPr lang="en-US" sz="650" dirty="0">
                <a:solidFill>
                  <a:srgbClr val="A19D98"/>
                </a:solidFill>
                <a:latin typeface="monospace" pitchFamily="34" charset="0"/>
                <a:ea typeface="monospace" pitchFamily="34" charset="-122"/>
                <a:cs typeface="monospace" pitchFamily="34" charset="-120"/>
              </a:rPr>
              <a:t>PRIVACY // SYNTHETIC OR CONSENTED DATA ONLY · TEMPORARY UPLOADS · PRODUCTION REQUIRES AUTHENTICATION + TTL DELETION</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342900" y="342900"/>
            <a:ext cx="8458200" cy="228600"/>
          </a:xfrm>
          <a:prstGeom prst="rect">
            <a:avLst/>
          </a:prstGeom>
          <a:solidFill>
            <a:srgbClr val="000000">
              <a:alpha val="0"/>
            </a:srgbClr>
          </a:solidFill>
          <a:ln/>
        </p:spPr>
      </p:sp>
      <p:sp>
        <p:nvSpPr>
          <p:cNvPr id="5" name="Shape 1"/>
          <p:cNvSpPr/>
          <p:nvPr/>
        </p:nvSpPr>
        <p:spPr>
          <a:xfrm>
            <a:off x="342900" y="342900"/>
            <a:ext cx="8458200" cy="7144"/>
          </a:xfrm>
          <a:prstGeom prst="rect">
            <a:avLst/>
          </a:prstGeom>
          <a:solidFill>
            <a:srgbClr val="2A2A2C"/>
          </a:solidFill>
          <a:ln/>
        </p:spPr>
      </p:sp>
      <p:sp>
        <p:nvSpPr>
          <p:cNvPr id="6" name="Text 2"/>
          <p:cNvSpPr/>
          <p:nvPr/>
        </p:nvSpPr>
        <p:spPr>
          <a:xfrm>
            <a:off x="342900" y="428625"/>
            <a:ext cx="960165"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[SYS-09] / CLOSE</a:t>
            </a:r>
            <a:endParaRPr lang="en-US" sz="750" dirty="0"/>
          </a:p>
        </p:txBody>
      </p:sp>
      <p:sp>
        <p:nvSpPr>
          <p:cNvPr id="7" name="Text 3"/>
          <p:cNvSpPr/>
          <p:nvPr/>
        </p:nvSpPr>
        <p:spPr>
          <a:xfrm>
            <a:off x="7960984" y="428625"/>
            <a:ext cx="840116" cy="135731"/>
          </a:xfrm>
          <a:prstGeom prst="rect">
            <a:avLst/>
          </a:prstGeom>
          <a:noFill/>
          <a:ln/>
        </p:spPr>
        <p:txBody>
          <a:bodyPr wrap="none" lIns="0" tIns="0" rIns="0" bIns="0" rtlCol="0" anchor="t">
            <a:spAutoFit/>
          </a:bodyPr>
          <a:lstStyle/>
          <a:p>
            <a:pPr algn="l" indent="0" marL="0">
              <a:buNone/>
            </a:pPr>
            <a:r>
              <a:rPr lang="en-US" sz="750" dirty="0">
                <a:solidFill>
                  <a:srgbClr val="A19D98"/>
                </a:solidFill>
                <a:latin typeface="monospace" pitchFamily="34" charset="0"/>
                <a:ea typeface="monospace" pitchFamily="34" charset="-122"/>
                <a:cs typeface="monospace" pitchFamily="34" charset="-120"/>
              </a:rPr>
              <a:t>TRUSTLENS APAC</a:t>
            </a:r>
            <a:endParaRPr lang="en-US" sz="750" dirty="0"/>
          </a:p>
        </p:txBody>
      </p:sp>
      <p:sp>
        <p:nvSpPr>
          <p:cNvPr id="8" name="Text 4"/>
          <p:cNvSpPr/>
          <p:nvPr/>
        </p:nvSpPr>
        <p:spPr>
          <a:xfrm>
            <a:off x="342900" y="1060121"/>
            <a:ext cx="8458200" cy="135731"/>
          </a:xfrm>
          <a:prstGeom prst="rect">
            <a:avLst/>
          </a:prstGeom>
          <a:noFill/>
          <a:ln/>
        </p:spPr>
        <p:txBody>
          <a:bodyPr wrap="square" lIns="0" tIns="0" rIns="0" bIns="0" rtlCol="0" anchor="t">
            <a:spAutoFit/>
          </a:bodyPr>
          <a:lstStyle/>
          <a:p>
            <a:pPr algn="l" indent="0" marL="0">
              <a:buNone/>
            </a:pPr>
            <a:r>
              <a:rPr lang="en-US" sz="750" spc="2" kern="0" dirty="0">
                <a:solidFill>
                  <a:srgbClr val="FFB84D"/>
                </a:solidFill>
                <a:latin typeface="monospace" pitchFamily="34" charset="0"/>
                <a:ea typeface="monospace" pitchFamily="34" charset="-122"/>
                <a:cs typeface="monospace" pitchFamily="34" charset="-120"/>
              </a:rPr>
              <a:t>THE SAFE NEXT STEP IS A PRODUCT FEATURE</a:t>
            </a:r>
            <a:endParaRPr lang="en-US" sz="750" dirty="0"/>
          </a:p>
        </p:txBody>
      </p:sp>
      <p:sp>
        <p:nvSpPr>
          <p:cNvPr id="9" name="Text 5"/>
          <p:cNvSpPr/>
          <p:nvPr/>
        </p:nvSpPr>
        <p:spPr>
          <a:xfrm>
            <a:off x="342900" y="1367303"/>
            <a:ext cx="6429375" cy="1050131"/>
          </a:xfrm>
          <a:prstGeom prst="rect">
            <a:avLst/>
          </a:prstGeom>
          <a:noFill/>
          <a:ln/>
        </p:spPr>
        <p:txBody>
          <a:bodyPr wrap="square" lIns="0" tIns="0" rIns="0" bIns="0" rtlCol="0" anchor="t">
            <a:spAutoFit/>
          </a:bodyPr>
          <a:lstStyle/>
          <a:p>
            <a:pPr algn="l" indent="0" marL="0">
              <a:lnSpc>
                <a:spcPct val="78400"/>
              </a:lnSpc>
              <a:buNone/>
            </a:pPr>
            <a:r>
              <a:rPr lang="en-US" sz="4150" spc="-3" kern="0" dirty="0">
                <a:solidFill>
                  <a:srgbClr val="F4F0EA"/>
                </a:solidFill>
                <a:latin typeface="Arial" pitchFamily="34" charset="0"/>
                <a:ea typeface="Arial" pitchFamily="34" charset="-122"/>
                <a:cs typeface="Arial" pitchFamily="34" charset="-120"/>
              </a:rPr>
              <a:t>Make the safe next step </a:t>
            </a:r>
            <a:r>
              <a:rPr lang="en-US" sz="4150" spc="-3" kern="0" dirty="0">
                <a:solidFill>
                  <a:srgbClr val="2ECA7F"/>
                </a:solidFill>
                <a:latin typeface="Arial" pitchFamily="34" charset="0"/>
                <a:ea typeface="Arial" pitchFamily="34" charset="-122"/>
                <a:cs typeface="Arial" pitchFamily="34" charset="-120"/>
              </a:rPr>
              <a:t>obvious.</a:t>
            </a:r>
            <a:endParaRPr lang="en-US" sz="4150" dirty="0"/>
          </a:p>
        </p:txBody>
      </p:sp>
      <p:sp>
        <p:nvSpPr>
          <p:cNvPr id="10" name="Text 6"/>
          <p:cNvSpPr/>
          <p:nvPr/>
        </p:nvSpPr>
        <p:spPr>
          <a:xfrm>
            <a:off x="342900" y="2810340"/>
            <a:ext cx="5214938" cy="694339"/>
          </a:xfrm>
          <a:prstGeom prst="rect">
            <a:avLst/>
          </a:prstGeom>
          <a:noFill/>
          <a:ln/>
        </p:spPr>
        <p:txBody>
          <a:bodyPr wrap="square" lIns="0" tIns="0" rIns="0" bIns="0" rtlCol="0" anchor="t">
            <a:spAutoFit/>
          </a:bodyPr>
          <a:lstStyle/>
          <a:p>
            <a:pPr algn="l" indent="0" marL="0">
              <a:lnSpc>
                <a:spcPct val="108000"/>
              </a:lnSpc>
              <a:buNone/>
            </a:pPr>
            <a:r>
              <a:rPr lang="en-US" sz="1200" b="1" dirty="0">
                <a:solidFill>
                  <a:srgbClr val="F4F0EA"/>
                </a:solidFill>
                <a:latin typeface="Arial" pitchFamily="34" charset="0"/>
                <a:ea typeface="Arial" pitchFamily="34" charset="-122"/>
                <a:cs typeface="Arial" pitchFamily="34" charset="-120"/>
              </a:rPr>
              <a:t>TrustLens</a:t>
            </a:r>
            <a:r>
              <a:rPr lang="en-US" sz="1250" dirty="0">
                <a:solidFill>
                  <a:srgbClr val="A19D98"/>
                </a:solidFill>
                <a:latin typeface="Arial" pitchFamily="34" charset="0"/>
                <a:ea typeface="Arial" pitchFamily="34" charset="-122"/>
                <a:cs typeface="Arial" pitchFamily="34" charset="-120"/>
              </a:rPr>
              <a:t> brings grounded Gemini reasoning, deterministic safety, </a:t>
            </a:r>
            <a:r>
              <a:rPr lang="en-US" sz="1250" dirty="0">
                <a:solidFill>
                  <a:srgbClr val="A19D98"/>
                </a:solidFill>
                <a:latin typeface="Arial" pitchFamily="34" charset="0"/>
                <a:ea typeface="Arial" pitchFamily="34" charset="-122"/>
                <a:cs typeface="Arial" pitchFamily="34" charset="-120"/>
              </a:rPr>
              <a:t>and human oversight to the moment before a scam becomes a </a:t>
            </a:r>
            <a:r>
              <a:rPr lang="en-US" sz="1250" dirty="0">
                <a:solidFill>
                  <a:srgbClr val="A19D98"/>
                </a:solidFill>
                <a:latin typeface="Arial" pitchFamily="34" charset="0"/>
                <a:ea typeface="Arial" pitchFamily="34" charset="-122"/>
                <a:cs typeface="Arial" pitchFamily="34" charset="-120"/>
              </a:rPr>
              <a:t>transaction.</a:t>
            </a:r>
            <a:endParaRPr lang="en-US" sz="1200" dirty="0"/>
          </a:p>
        </p:txBody>
      </p:sp>
      <p:sp>
        <p:nvSpPr>
          <p:cNvPr id="11" name="Text 7"/>
          <p:cNvSpPr/>
          <p:nvPr/>
        </p:nvSpPr>
        <p:spPr>
          <a:xfrm>
            <a:off x="342900" y="3754710"/>
            <a:ext cx="1691673" cy="328613"/>
          </a:xfrm>
          <a:prstGeom prst="rect">
            <a:avLst/>
          </a:prstGeom>
          <a:noFill/>
          <a:ln/>
        </p:spPr>
        <p:txBody>
          <a:bodyPr wrap="square" lIns="136017" tIns="110617" rIns="136017" bIns="110617" rtlCol="0" anchor="t">
            <a:spAutoFit/>
          </a:bodyPr>
          <a:lstStyle/>
          <a:p>
            <a:pPr algn="l" indent="0" marL="0">
              <a:buNone/>
            </a:pPr>
            <a:r>
              <a:rPr lang="en-US" sz="650" dirty="0">
                <a:solidFill>
                  <a:srgbClr val="2ECA7F"/>
                </a:solidFill>
                <a:latin typeface="monospace" pitchFamily="34" charset="0"/>
                <a:ea typeface="monospace" pitchFamily="34" charset="-122"/>
                <a:cs typeface="monospace" pitchFamily="34" charset="-120"/>
              </a:rPr>
              <a:t>LIVE PROTOTYPE / CLOUD RUN</a:t>
            </a:r>
            <a:endParaRPr lang="en-US" sz="650" dirty="0"/>
          </a:p>
        </p:txBody>
      </p:sp>
      <p:sp>
        <p:nvSpPr>
          <p:cNvPr id="12" name="Text 8"/>
          <p:cNvSpPr/>
          <p:nvPr/>
        </p:nvSpPr>
        <p:spPr>
          <a:xfrm>
            <a:off x="2234598" y="3754710"/>
            <a:ext cx="1078762" cy="328613"/>
          </a:xfrm>
          <a:prstGeom prst="rect">
            <a:avLst/>
          </a:prstGeom>
          <a:noFill/>
          <a:ln/>
        </p:spPr>
        <p:txBody>
          <a:bodyPr wrap="none" lIns="136017" tIns="110617" rIns="136017" bIns="110617" rtlCol="0" anchor="t">
            <a:spAutoFit/>
          </a:bodyPr>
          <a:lstStyle/>
          <a:p>
            <a:pPr algn="l" indent="0" marL="0">
              <a:buNone/>
            </a:pPr>
            <a:r>
              <a:rPr lang="en-US" sz="650" dirty="0">
                <a:solidFill>
                  <a:srgbClr val="F4F0EA"/>
                </a:solidFill>
                <a:latin typeface="monospace" pitchFamily="34" charset="0"/>
                <a:ea typeface="monospace" pitchFamily="34" charset="-122"/>
                <a:cs typeface="monospace" pitchFamily="34" charset="-120"/>
              </a:rPr>
              <a:t>GITHUB + README</a:t>
            </a:r>
            <a:endParaRPr lang="en-US" sz="650" dirty="0"/>
          </a:p>
        </p:txBody>
      </p:sp>
      <p:sp>
        <p:nvSpPr>
          <p:cNvPr id="13" name="Text 9"/>
          <p:cNvSpPr/>
          <p:nvPr/>
        </p:nvSpPr>
        <p:spPr>
          <a:xfrm>
            <a:off x="3513386" y="3754710"/>
            <a:ext cx="967308" cy="328613"/>
          </a:xfrm>
          <a:prstGeom prst="rect">
            <a:avLst/>
          </a:prstGeom>
          <a:noFill/>
          <a:ln/>
        </p:spPr>
        <p:txBody>
          <a:bodyPr wrap="none" lIns="136017" tIns="110617" rIns="136017" bIns="110617" rtlCol="0" anchor="t">
            <a:spAutoFit/>
          </a:bodyPr>
          <a:lstStyle/>
          <a:p>
            <a:pPr algn="l" indent="0" marL="0">
              <a:buNone/>
            </a:pPr>
            <a:r>
              <a:rPr lang="en-US" sz="650" dirty="0">
                <a:solidFill>
                  <a:srgbClr val="F4F0EA"/>
                </a:solidFill>
                <a:latin typeface="monospace" pitchFamily="34" charset="0"/>
                <a:ea typeface="monospace" pitchFamily="34" charset="-122"/>
                <a:cs typeface="monospace" pitchFamily="34" charset="-120"/>
              </a:rPr>
              <a:t>3-MINUTE DEMO</a:t>
            </a:r>
            <a:endParaRPr lang="en-US" sz="650" dirty="0"/>
          </a:p>
        </p:txBody>
      </p:sp>
      <p:sp>
        <p:nvSpPr>
          <p:cNvPr id="14" name="Shape 10"/>
          <p:cNvSpPr/>
          <p:nvPr/>
        </p:nvSpPr>
        <p:spPr>
          <a:xfrm>
            <a:off x="342900" y="4579144"/>
            <a:ext cx="8458200" cy="221456"/>
          </a:xfrm>
          <a:prstGeom prst="rect">
            <a:avLst/>
          </a:prstGeom>
          <a:solidFill>
            <a:srgbClr val="000000">
              <a:alpha val="0"/>
            </a:srgbClr>
          </a:solidFill>
          <a:ln/>
        </p:spPr>
      </p:sp>
      <p:sp>
        <p:nvSpPr>
          <p:cNvPr id="15" name="Shape 11"/>
          <p:cNvSpPr/>
          <p:nvPr/>
        </p:nvSpPr>
        <p:spPr>
          <a:xfrm>
            <a:off x="342900" y="4793456"/>
            <a:ext cx="8458200" cy="7144"/>
          </a:xfrm>
          <a:prstGeom prst="rect">
            <a:avLst/>
          </a:prstGeom>
          <a:solidFill>
            <a:srgbClr val="2A2A2C"/>
          </a:solidFill>
          <a:ln/>
        </p:spPr>
      </p:sp>
      <p:sp>
        <p:nvSpPr>
          <p:cNvPr id="16" name="Text 12"/>
          <p:cNvSpPr/>
          <p:nvPr/>
        </p:nvSpPr>
        <p:spPr>
          <a:xfrm>
            <a:off x="342900" y="4586288"/>
            <a:ext cx="4179150" cy="128588"/>
          </a:xfrm>
          <a:prstGeom prst="rect">
            <a:avLst/>
          </a:prstGeom>
          <a:noFill/>
          <a:ln/>
        </p:spPr>
        <p:txBody>
          <a:bodyPr wrap="square" lIns="0" tIns="0" rIns="0" bIns="0" rtlCol="0" anchor="t">
            <a:spAutoFit/>
          </a:bodyPr>
          <a:lstStyle/>
          <a:p>
            <a:pPr algn="l" indent="0" marL="0">
              <a:buNone/>
            </a:pPr>
            <a:r>
              <a:rPr lang="en-US" sz="650" dirty="0">
                <a:solidFill>
                  <a:srgbClr val="A19D98"/>
                </a:solidFill>
                <a:latin typeface="monospace" pitchFamily="34" charset="0"/>
                <a:ea typeface="monospace" pitchFamily="34" charset="-122"/>
                <a:cs typeface="monospace" pitchFamily="34" charset="-120"/>
              </a:rPr>
              <a:t>AI BUILDER CUP 2026 · BFSI: INTELLIGENT RISK, FRAUD &amp; FINANCIAL EXPERIENCES</a:t>
            </a:r>
            <a:endParaRPr lang="en-US" sz="650" dirty="0"/>
          </a:p>
        </p:txBody>
      </p:sp>
      <p:sp>
        <p:nvSpPr>
          <p:cNvPr id="17" name="Text 13"/>
          <p:cNvSpPr/>
          <p:nvPr/>
        </p:nvSpPr>
        <p:spPr>
          <a:xfrm>
            <a:off x="8299586" y="4586288"/>
            <a:ext cx="501514" cy="128588"/>
          </a:xfrm>
          <a:prstGeom prst="rect">
            <a:avLst/>
          </a:prstGeom>
          <a:noFill/>
          <a:ln/>
        </p:spPr>
        <p:txBody>
          <a:bodyPr wrap="none" lIns="0" tIns="0" rIns="0" bIns="0" rtlCol="0" anchor="t">
            <a:spAutoFit/>
          </a:bodyPr>
          <a:lstStyle/>
          <a:p>
            <a:pPr algn="l" indent="0" marL="0">
              <a:buNone/>
            </a:pPr>
            <a:r>
              <a:rPr lang="en-US" sz="650" dirty="0">
                <a:solidFill>
                  <a:srgbClr val="2ECA7F"/>
                </a:solidFill>
                <a:latin typeface="monospace" pitchFamily="34" charset="0"/>
                <a:ea typeface="monospace" pitchFamily="34" charset="-122"/>
                <a:cs typeface="monospace" pitchFamily="34" charset="-120"/>
              </a:rPr>
              <a:t>THANK YOU</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2026-10-01T16:23:53Z</dcterms:created>
  <dcterms:modified xsi:type="dcterms:W3CDTF">2026-10-01T16:23:53Z</dcterms:modified>
</cp:coreProperties>
</file>